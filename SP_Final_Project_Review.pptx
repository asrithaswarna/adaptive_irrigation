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ptos Bold" charset="1" panose="020B0004020202020204"/>
      <p:regular r:id="rId21"/>
    </p:embeddedFont>
    <p:embeddedFont>
      <p:font typeface="Aptos" charset="1" panose="020B0004020202020204"/>
      <p:regular r:id="rId22"/>
    </p:embeddedFont>
    <p:embeddedFont>
      <p:font typeface="Aptos Italics" charset="1" panose="020B000402020209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24862" y="754971"/>
            <a:ext cx="1853108" cy="1853108"/>
            <a:chOff x="0" y="0"/>
            <a:chExt cx="2470810" cy="24708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0912" cy="2470785"/>
            </a:xfrm>
            <a:custGeom>
              <a:avLst/>
              <a:gdLst/>
              <a:ahLst/>
              <a:cxnLst/>
              <a:rect r="r" b="b" t="t" l="l"/>
              <a:pathLst>
                <a:path h="2470785" w="2470912">
                  <a:moveTo>
                    <a:pt x="0" y="1235456"/>
                  </a:moveTo>
                  <a:cubicBezTo>
                    <a:pt x="0" y="553085"/>
                    <a:pt x="553085" y="0"/>
                    <a:pt x="1235456" y="0"/>
                  </a:cubicBezTo>
                  <a:cubicBezTo>
                    <a:pt x="1917827" y="0"/>
                    <a:pt x="2470912" y="553085"/>
                    <a:pt x="2470912" y="1235456"/>
                  </a:cubicBezTo>
                  <a:cubicBezTo>
                    <a:pt x="2470912" y="1917827"/>
                    <a:pt x="1917700" y="2470785"/>
                    <a:pt x="1235456" y="2470785"/>
                  </a:cubicBezTo>
                  <a:cubicBezTo>
                    <a:pt x="553212" y="2470785"/>
                    <a:pt x="0" y="1917700"/>
                    <a:pt x="0" y="1235456"/>
                  </a:cubicBezTo>
                  <a:close/>
                </a:path>
              </a:pathLst>
            </a:custGeom>
            <a:solidFill>
              <a:srgbClr val="DCE9D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91637" y="1757020"/>
            <a:ext cx="1166774" cy="1166774"/>
            <a:chOff x="0" y="0"/>
            <a:chExt cx="1555699" cy="15556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cubicBezTo>
                    <a:pt x="1207516" y="0"/>
                    <a:pt x="1555750" y="348234"/>
                    <a:pt x="1555750" y="777875"/>
                  </a:cubicBezTo>
                  <a:cubicBezTo>
                    <a:pt x="1555750" y="1207516"/>
                    <a:pt x="1207389" y="1555750"/>
                    <a:pt x="777875" y="1555750"/>
                  </a:cubicBezTo>
                  <a:cubicBezTo>
                    <a:pt x="348361" y="1555750"/>
                    <a:pt x="0" y="1207389"/>
                    <a:pt x="0" y="777875"/>
                  </a:cubicBezTo>
                  <a:close/>
                </a:path>
              </a:pathLst>
            </a:custGeom>
            <a:solidFill>
              <a:srgbClr val="E3ECF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81696" y="2361000"/>
            <a:ext cx="713794" cy="713794"/>
            <a:chOff x="0" y="0"/>
            <a:chExt cx="951725" cy="951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F6E3D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8030137"/>
            <a:ext cx="892235" cy="892235"/>
            <a:chOff x="0" y="0"/>
            <a:chExt cx="1189647" cy="11896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89609" cy="1189609"/>
            </a:xfrm>
            <a:custGeom>
              <a:avLst/>
              <a:gdLst/>
              <a:ahLst/>
              <a:cxnLst/>
              <a:rect r="r" b="b" t="t" l="l"/>
              <a:pathLst>
                <a:path h="1189609" w="1189609">
                  <a:moveTo>
                    <a:pt x="0" y="594868"/>
                  </a:moveTo>
                  <a:cubicBezTo>
                    <a:pt x="0" y="266319"/>
                    <a:pt x="266319" y="0"/>
                    <a:pt x="594868" y="0"/>
                  </a:cubicBezTo>
                  <a:cubicBezTo>
                    <a:pt x="923417" y="0"/>
                    <a:pt x="1189609" y="266319"/>
                    <a:pt x="1189609" y="594868"/>
                  </a:cubicBezTo>
                  <a:cubicBezTo>
                    <a:pt x="1189609" y="923417"/>
                    <a:pt x="923290" y="1189609"/>
                    <a:pt x="594868" y="1189609"/>
                  </a:cubicBezTo>
                  <a:cubicBezTo>
                    <a:pt x="266446" y="1189609"/>
                    <a:pt x="0" y="923290"/>
                    <a:pt x="0" y="594868"/>
                  </a:cubicBezTo>
                  <a:close/>
                </a:path>
              </a:pathLst>
            </a:custGeom>
            <a:solidFill>
              <a:srgbClr val="E3ECF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62863" y="8510568"/>
            <a:ext cx="480431" cy="480431"/>
            <a:chOff x="0" y="0"/>
            <a:chExt cx="640575" cy="6405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320294"/>
                  </a:moveTo>
                  <a:cubicBezTo>
                    <a:pt x="0" y="143383"/>
                    <a:pt x="143383" y="0"/>
                    <a:pt x="320294" y="0"/>
                  </a:cubicBezTo>
                  <a:cubicBezTo>
                    <a:pt x="497205" y="0"/>
                    <a:pt x="640588" y="143383"/>
                    <a:pt x="640588" y="320294"/>
                  </a:cubicBezTo>
                  <a:cubicBezTo>
                    <a:pt x="640588" y="497205"/>
                    <a:pt x="497205" y="640588"/>
                    <a:pt x="320294" y="640588"/>
                  </a:cubicBezTo>
                  <a:cubicBezTo>
                    <a:pt x="143383" y="640588"/>
                    <a:pt x="0" y="497205"/>
                    <a:pt x="0" y="320294"/>
                  </a:cubicBezTo>
                  <a:close/>
                </a:path>
              </a:pathLst>
            </a:custGeom>
            <a:solidFill>
              <a:srgbClr val="F6E3D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17968" y="980694"/>
            <a:ext cx="3927367" cy="481965"/>
            <a:chOff x="0" y="0"/>
            <a:chExt cx="5236489" cy="6426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36464" cy="642620"/>
            </a:xfrm>
            <a:custGeom>
              <a:avLst/>
              <a:gdLst/>
              <a:ahLst/>
              <a:cxnLst/>
              <a:rect r="r" b="b" t="t" l="l"/>
              <a:pathLst>
                <a:path h="642620" w="5236464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5129403" y="0"/>
                  </a:lnTo>
                  <a:cubicBezTo>
                    <a:pt x="5188585" y="0"/>
                    <a:pt x="5236464" y="48006"/>
                    <a:pt x="5236464" y="107061"/>
                  </a:cubicBezTo>
                  <a:lnTo>
                    <a:pt x="5236464" y="535559"/>
                  </a:lnTo>
                  <a:cubicBezTo>
                    <a:pt x="5236464" y="594741"/>
                    <a:pt x="5188458" y="642620"/>
                    <a:pt x="5129403" y="642620"/>
                  </a:cubicBezTo>
                  <a:lnTo>
                    <a:pt x="107061" y="642620"/>
                  </a:lnTo>
                  <a:cubicBezTo>
                    <a:pt x="48006" y="642620"/>
                    <a:pt x="0" y="594614"/>
                    <a:pt x="0" y="535559"/>
                  </a:cubicBezTo>
                  <a:close/>
                </a:path>
              </a:pathLst>
            </a:custGeom>
            <a:solidFill>
              <a:srgbClr val="DCE9DD"/>
            </a:solidFill>
            <a:ln w="15252" cap="sq">
              <a:solidFill>
                <a:srgbClr val="DCE9DD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865007" y="1097737"/>
            <a:ext cx="243328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SIGNAL PROCESSING PROJECT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2164" y="1965884"/>
            <a:ext cx="1214363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Adaptive Irrigation</a:t>
            </a:r>
          </a:p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Management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2164" y="3683698"/>
            <a:ext cx="1145729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Through Environmental Condition-Based Water Requirement Estimation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7076" y="5133394"/>
            <a:ext cx="11182760" cy="512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A software-based study of 24-hour-ahead soil-moisture prediction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17968" y="6100762"/>
            <a:ext cx="11957504" cy="2184073"/>
            <a:chOff x="0" y="0"/>
            <a:chExt cx="15943339" cy="29120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943326" cy="2912110"/>
            </a:xfrm>
            <a:custGeom>
              <a:avLst/>
              <a:gdLst/>
              <a:ahLst/>
              <a:cxnLst/>
              <a:rect r="r" b="b" t="t" l="l"/>
              <a:pathLst>
                <a:path h="2912110" w="15943326">
                  <a:moveTo>
                    <a:pt x="0" y="485394"/>
                  </a:moveTo>
                  <a:cubicBezTo>
                    <a:pt x="0" y="217297"/>
                    <a:pt x="217297" y="0"/>
                    <a:pt x="485394" y="0"/>
                  </a:cubicBezTo>
                  <a:lnTo>
                    <a:pt x="15457932" y="0"/>
                  </a:lnTo>
                  <a:cubicBezTo>
                    <a:pt x="15726029" y="0"/>
                    <a:pt x="15943326" y="217297"/>
                    <a:pt x="15943326" y="485394"/>
                  </a:cubicBezTo>
                  <a:lnTo>
                    <a:pt x="15943326" y="2426716"/>
                  </a:lnTo>
                  <a:cubicBezTo>
                    <a:pt x="15943326" y="2694813"/>
                    <a:pt x="15726029" y="2912110"/>
                    <a:pt x="15457932" y="2912110"/>
                  </a:cubicBezTo>
                  <a:lnTo>
                    <a:pt x="485394" y="2912110"/>
                  </a:lnTo>
                  <a:cubicBezTo>
                    <a:pt x="217297" y="2912110"/>
                    <a:pt x="0" y="2694813"/>
                    <a:pt x="0" y="242671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519066" y="6437433"/>
            <a:ext cx="2397662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TEAM MEMBERS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9066" y="6845027"/>
            <a:ext cx="7270642" cy="1107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Monica Raghini Chelle  •  2520040093  (Team Lead)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Swarna Asritha  •  2520040114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Dhanush Karthikeya  •  2520040032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64850" y="6437433"/>
            <a:ext cx="1024985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456B97"/>
                </a:solidFill>
                <a:latin typeface="Aptos Bold"/>
                <a:ea typeface="Aptos Bold"/>
                <a:cs typeface="Aptos Bold"/>
                <a:sym typeface="Aptos Bold"/>
              </a:rPr>
              <a:t>GUIDE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64850" y="6845027"/>
            <a:ext cx="3427162" cy="1093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Dr. V. Sahiti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Assistant Professor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Department of ECE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KL University, Hyderabad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84723" y="9027576"/>
            <a:ext cx="5005740" cy="3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SOIL SIGNALS  →  FORECASTS  →  DECISION SUPPORT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87635" y="9919821"/>
            <a:ext cx="11594563" cy="1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ADAPTIVE IRRIGATION MANAGEMENT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714546" y="9869110"/>
            <a:ext cx="5857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7635" y="411404"/>
            <a:ext cx="7476544" cy="2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01  •  CONTEXT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635" y="887635"/>
            <a:ext cx="16398916" cy="72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Introduction &amp; Practical Motivation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8510" y="1743294"/>
            <a:ext cx="1029500" cy="75495"/>
            <a:chOff x="0" y="0"/>
            <a:chExt cx="1372667" cy="100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616" cy="100711"/>
            </a:xfrm>
            <a:custGeom>
              <a:avLst/>
              <a:gdLst/>
              <a:ahLst/>
              <a:cxnLst/>
              <a:rect r="r" b="b" t="t" l="l"/>
              <a:pathLst>
                <a:path h="100711" w="1372616">
                  <a:moveTo>
                    <a:pt x="0" y="0"/>
                  </a:moveTo>
                  <a:lnTo>
                    <a:pt x="1372616" y="0"/>
                  </a:lnTo>
                  <a:lnTo>
                    <a:pt x="1372616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42665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987027" y="466306"/>
            <a:ext cx="1368152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02  /  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3429" y="2161194"/>
            <a:ext cx="8251288" cy="6260916"/>
            <a:chOff x="0" y="0"/>
            <a:chExt cx="11001718" cy="83478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01628" cy="8347711"/>
            </a:xfrm>
            <a:custGeom>
              <a:avLst/>
              <a:gdLst/>
              <a:ahLst/>
              <a:cxnLst/>
              <a:rect r="r" b="b" t="t" l="l"/>
              <a:pathLst>
                <a:path h="8347711" w="11001628">
                  <a:moveTo>
                    <a:pt x="0" y="1391285"/>
                  </a:moveTo>
                  <a:cubicBezTo>
                    <a:pt x="0" y="622935"/>
                    <a:pt x="622935" y="0"/>
                    <a:pt x="1391285" y="0"/>
                  </a:cubicBezTo>
                  <a:lnTo>
                    <a:pt x="9610344" y="0"/>
                  </a:lnTo>
                  <a:cubicBezTo>
                    <a:pt x="10378821" y="0"/>
                    <a:pt x="11001628" y="622935"/>
                    <a:pt x="11001628" y="1391285"/>
                  </a:cubicBezTo>
                  <a:lnTo>
                    <a:pt x="11001628" y="6956425"/>
                  </a:lnTo>
                  <a:cubicBezTo>
                    <a:pt x="11001628" y="7724902"/>
                    <a:pt x="10378694" y="8347711"/>
                    <a:pt x="9610344" y="8347711"/>
                  </a:cubicBezTo>
                  <a:lnTo>
                    <a:pt x="1391285" y="8347711"/>
                  </a:lnTo>
                  <a:cubicBezTo>
                    <a:pt x="622935" y="8347837"/>
                    <a:pt x="0" y="7724902"/>
                    <a:pt x="0" y="695655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71978" y="2576017"/>
            <a:ext cx="5417534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WHY SOIL MOISTURE?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0266" y="3125086"/>
            <a:ext cx="7115089" cy="454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Soil moisture changes as weather, evaporation, rainfall and watering change.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A forecast 24 hours ahead can help plan irrigation instead of reacting only to current readings.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Weather-station signals may contain spikes, missing values and rapid changes.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Signal processing prepares the series; machine learning estimates future moisture.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36360" y="2161194"/>
            <a:ext cx="7963024" cy="6260916"/>
            <a:chOff x="0" y="0"/>
            <a:chExt cx="10617365" cy="83478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17201" cy="8347711"/>
            </a:xfrm>
            <a:custGeom>
              <a:avLst/>
              <a:gdLst/>
              <a:ahLst/>
              <a:cxnLst/>
              <a:rect r="r" b="b" t="t" l="l"/>
              <a:pathLst>
                <a:path h="8347711" w="10617201">
                  <a:moveTo>
                    <a:pt x="0" y="1391285"/>
                  </a:moveTo>
                  <a:cubicBezTo>
                    <a:pt x="0" y="622935"/>
                    <a:pt x="622935" y="0"/>
                    <a:pt x="1391285" y="0"/>
                  </a:cubicBezTo>
                  <a:lnTo>
                    <a:pt x="9225915" y="0"/>
                  </a:lnTo>
                  <a:cubicBezTo>
                    <a:pt x="9994392" y="0"/>
                    <a:pt x="10617201" y="622935"/>
                    <a:pt x="10617201" y="1391285"/>
                  </a:cubicBezTo>
                  <a:lnTo>
                    <a:pt x="10617201" y="6956425"/>
                  </a:lnTo>
                  <a:cubicBezTo>
                    <a:pt x="10617201" y="7724902"/>
                    <a:pt x="9994265" y="8347711"/>
                    <a:pt x="9225915" y="8347711"/>
                  </a:cubicBezTo>
                  <a:lnTo>
                    <a:pt x="1391285" y="8347711"/>
                  </a:lnTo>
                  <a:cubicBezTo>
                    <a:pt x="622935" y="8347837"/>
                    <a:pt x="0" y="7724902"/>
                    <a:pt x="0" y="6956552"/>
                  </a:cubicBezTo>
                  <a:close/>
                </a:path>
              </a:pathLst>
            </a:custGeom>
            <a:solidFill>
              <a:srgbClr val="E3ECF8"/>
            </a:solidFill>
            <a:ln w="15252" cap="sq">
              <a:solidFill>
                <a:srgbClr val="E3ECF8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919821" y="2617203"/>
            <a:ext cx="2672191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56B97"/>
                </a:solidFill>
                <a:latin typeface="Aptos Bold"/>
                <a:ea typeface="Aptos Bold"/>
                <a:cs typeface="Aptos Bold"/>
                <a:sym typeface="Aptos Bold"/>
              </a:rPr>
              <a:t>PROJECT IDEA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03066" y="3122066"/>
            <a:ext cx="770220" cy="729044"/>
            <a:chOff x="0" y="0"/>
            <a:chExt cx="1026960" cy="9720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7049" cy="972058"/>
            </a:xfrm>
            <a:custGeom>
              <a:avLst/>
              <a:gdLst/>
              <a:ahLst/>
              <a:cxnLst/>
              <a:rect r="r" b="b" t="t" l="l"/>
              <a:pathLst>
                <a:path h="972058" w="1027049">
                  <a:moveTo>
                    <a:pt x="0" y="162052"/>
                  </a:moveTo>
                  <a:cubicBezTo>
                    <a:pt x="0" y="72517"/>
                    <a:pt x="72517" y="0"/>
                    <a:pt x="162052" y="0"/>
                  </a:cubicBezTo>
                  <a:lnTo>
                    <a:pt x="864997" y="0"/>
                  </a:lnTo>
                  <a:cubicBezTo>
                    <a:pt x="954532" y="0"/>
                    <a:pt x="1027049" y="72517"/>
                    <a:pt x="1027049" y="162052"/>
                  </a:cubicBezTo>
                  <a:lnTo>
                    <a:pt x="1027049" y="810006"/>
                  </a:lnTo>
                  <a:cubicBezTo>
                    <a:pt x="1027049" y="899541"/>
                    <a:pt x="954532" y="972058"/>
                    <a:pt x="864997" y="972058"/>
                  </a:cubicBezTo>
                  <a:lnTo>
                    <a:pt x="162052" y="972058"/>
                  </a:lnTo>
                  <a:cubicBezTo>
                    <a:pt x="72517" y="972058"/>
                    <a:pt x="0" y="899541"/>
                    <a:pt x="0" y="81000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947272" y="3358439"/>
            <a:ext cx="681819" cy="173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17958" y="3193723"/>
            <a:ext cx="2946730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Observe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17958" y="3591801"/>
            <a:ext cx="4731201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Weather + soil data</a:t>
            </a:r>
          </a:p>
        </p:txBody>
      </p:sp>
      <p:sp>
        <p:nvSpPr>
          <p:cNvPr name="AutoShape 19" id="19"/>
          <p:cNvSpPr/>
          <p:nvPr/>
        </p:nvSpPr>
        <p:spPr>
          <a:xfrm rot="5154180">
            <a:off x="10081193" y="4019264"/>
            <a:ext cx="400240" cy="0"/>
          </a:xfrm>
          <a:prstGeom prst="line">
            <a:avLst/>
          </a:prstGeom>
          <a:ln cap="rnd" w="19050">
            <a:solidFill>
              <a:srgbClr val="456B9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9903066" y="4247655"/>
            <a:ext cx="770220" cy="729044"/>
            <a:chOff x="0" y="0"/>
            <a:chExt cx="1026960" cy="9720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7049" cy="972058"/>
            </a:xfrm>
            <a:custGeom>
              <a:avLst/>
              <a:gdLst/>
              <a:ahLst/>
              <a:cxnLst/>
              <a:rect r="r" b="b" t="t" l="l"/>
              <a:pathLst>
                <a:path h="972058" w="1027049">
                  <a:moveTo>
                    <a:pt x="0" y="162052"/>
                  </a:moveTo>
                  <a:cubicBezTo>
                    <a:pt x="0" y="72517"/>
                    <a:pt x="72517" y="0"/>
                    <a:pt x="162052" y="0"/>
                  </a:cubicBezTo>
                  <a:lnTo>
                    <a:pt x="864997" y="0"/>
                  </a:lnTo>
                  <a:cubicBezTo>
                    <a:pt x="954532" y="0"/>
                    <a:pt x="1027049" y="72517"/>
                    <a:pt x="1027049" y="162052"/>
                  </a:cubicBezTo>
                  <a:lnTo>
                    <a:pt x="1027049" y="810006"/>
                  </a:lnTo>
                  <a:cubicBezTo>
                    <a:pt x="1027049" y="899541"/>
                    <a:pt x="954532" y="972058"/>
                    <a:pt x="864997" y="972058"/>
                  </a:cubicBezTo>
                  <a:lnTo>
                    <a:pt x="162052" y="972058"/>
                  </a:lnTo>
                  <a:cubicBezTo>
                    <a:pt x="72517" y="972058"/>
                    <a:pt x="0" y="899541"/>
                    <a:pt x="0" y="81000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9947272" y="4484037"/>
            <a:ext cx="681819" cy="173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017958" y="4319311"/>
            <a:ext cx="2946730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Clean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017958" y="4717390"/>
            <a:ext cx="4731201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Hampel filter</a:t>
            </a:r>
          </a:p>
        </p:txBody>
      </p:sp>
      <p:sp>
        <p:nvSpPr>
          <p:cNvPr name="AutoShape 25" id="25"/>
          <p:cNvSpPr/>
          <p:nvPr/>
        </p:nvSpPr>
        <p:spPr>
          <a:xfrm rot="5154180">
            <a:off x="10081193" y="5144862"/>
            <a:ext cx="400240" cy="0"/>
          </a:xfrm>
          <a:prstGeom prst="line">
            <a:avLst/>
          </a:prstGeom>
          <a:ln cap="rnd" w="19050">
            <a:solidFill>
              <a:srgbClr val="456B9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9903066" y="5373253"/>
            <a:ext cx="770220" cy="729044"/>
            <a:chOff x="0" y="0"/>
            <a:chExt cx="1026960" cy="97205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7049" cy="972058"/>
            </a:xfrm>
            <a:custGeom>
              <a:avLst/>
              <a:gdLst/>
              <a:ahLst/>
              <a:cxnLst/>
              <a:rect r="r" b="b" t="t" l="l"/>
              <a:pathLst>
                <a:path h="972058" w="1027049">
                  <a:moveTo>
                    <a:pt x="0" y="162052"/>
                  </a:moveTo>
                  <a:cubicBezTo>
                    <a:pt x="0" y="72517"/>
                    <a:pt x="72517" y="0"/>
                    <a:pt x="162052" y="0"/>
                  </a:cubicBezTo>
                  <a:lnTo>
                    <a:pt x="864997" y="0"/>
                  </a:lnTo>
                  <a:cubicBezTo>
                    <a:pt x="954532" y="0"/>
                    <a:pt x="1027049" y="72517"/>
                    <a:pt x="1027049" y="162052"/>
                  </a:cubicBezTo>
                  <a:lnTo>
                    <a:pt x="1027049" y="810006"/>
                  </a:lnTo>
                  <a:cubicBezTo>
                    <a:pt x="1027049" y="899541"/>
                    <a:pt x="954532" y="972058"/>
                    <a:pt x="864997" y="972058"/>
                  </a:cubicBezTo>
                  <a:lnTo>
                    <a:pt x="162052" y="972058"/>
                  </a:lnTo>
                  <a:cubicBezTo>
                    <a:pt x="72517" y="972058"/>
                    <a:pt x="0" y="899541"/>
                    <a:pt x="0" y="81000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9947272" y="5609625"/>
            <a:ext cx="681819" cy="173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017958" y="5444909"/>
            <a:ext cx="2946730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Predict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017958" y="5842978"/>
            <a:ext cx="4731201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LightGBM, +24 h</a:t>
            </a:r>
          </a:p>
        </p:txBody>
      </p:sp>
      <p:sp>
        <p:nvSpPr>
          <p:cNvPr name="AutoShape 31" id="31"/>
          <p:cNvSpPr/>
          <p:nvPr/>
        </p:nvSpPr>
        <p:spPr>
          <a:xfrm rot="5154180">
            <a:off x="10081193" y="6270450"/>
            <a:ext cx="400240" cy="0"/>
          </a:xfrm>
          <a:prstGeom prst="line">
            <a:avLst/>
          </a:prstGeom>
          <a:ln cap="rnd" w="19050">
            <a:solidFill>
              <a:srgbClr val="456B9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9903066" y="6498841"/>
            <a:ext cx="770220" cy="729044"/>
            <a:chOff x="0" y="0"/>
            <a:chExt cx="1026960" cy="97205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27049" cy="972058"/>
            </a:xfrm>
            <a:custGeom>
              <a:avLst/>
              <a:gdLst/>
              <a:ahLst/>
              <a:cxnLst/>
              <a:rect r="r" b="b" t="t" l="l"/>
              <a:pathLst>
                <a:path h="972058" w="1027049">
                  <a:moveTo>
                    <a:pt x="0" y="162052"/>
                  </a:moveTo>
                  <a:cubicBezTo>
                    <a:pt x="0" y="72517"/>
                    <a:pt x="72517" y="0"/>
                    <a:pt x="162052" y="0"/>
                  </a:cubicBezTo>
                  <a:lnTo>
                    <a:pt x="864997" y="0"/>
                  </a:lnTo>
                  <a:cubicBezTo>
                    <a:pt x="954532" y="0"/>
                    <a:pt x="1027049" y="72517"/>
                    <a:pt x="1027049" y="162052"/>
                  </a:cubicBezTo>
                  <a:lnTo>
                    <a:pt x="1027049" y="810006"/>
                  </a:lnTo>
                  <a:cubicBezTo>
                    <a:pt x="1027049" y="899541"/>
                    <a:pt x="954532" y="972058"/>
                    <a:pt x="864997" y="972058"/>
                  </a:cubicBezTo>
                  <a:lnTo>
                    <a:pt x="162052" y="972058"/>
                  </a:lnTo>
                  <a:cubicBezTo>
                    <a:pt x="72517" y="972058"/>
                    <a:pt x="0" y="899541"/>
                    <a:pt x="0" y="81000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9947272" y="6735213"/>
            <a:ext cx="681819" cy="173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017958" y="6570497"/>
            <a:ext cx="2946730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Explain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017958" y="6968576"/>
            <a:ext cx="4731201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SHAP + advisory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43429" y="8887292"/>
            <a:ext cx="16555955" cy="674132"/>
            <a:chOff x="0" y="0"/>
            <a:chExt cx="22074607" cy="89884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074632" cy="898906"/>
            </a:xfrm>
            <a:custGeom>
              <a:avLst/>
              <a:gdLst/>
              <a:ahLst/>
              <a:cxnLst/>
              <a:rect r="r" b="b" t="t" l="l"/>
              <a:pathLst>
                <a:path h="898906" w="22074632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21924772" y="0"/>
                  </a:lnTo>
                  <a:cubicBezTo>
                    <a:pt x="22007449" y="0"/>
                    <a:pt x="22074632" y="67056"/>
                    <a:pt x="22074632" y="149860"/>
                  </a:cubicBezTo>
                  <a:lnTo>
                    <a:pt x="22074632" y="749046"/>
                  </a:lnTo>
                  <a:cubicBezTo>
                    <a:pt x="22074632" y="831723"/>
                    <a:pt x="22007576" y="898906"/>
                    <a:pt x="21924772" y="898906"/>
                  </a:cubicBezTo>
                  <a:lnTo>
                    <a:pt x="149860" y="898906"/>
                  </a:lnTo>
                  <a:cubicBezTo>
                    <a:pt x="67056" y="898906"/>
                    <a:pt x="0" y="831723"/>
                    <a:pt x="0" y="749046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1162164" y="9072963"/>
            <a:ext cx="1368152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TAKEAWAY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617203" y="9041311"/>
            <a:ext cx="14408544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This project tests whether a signal-processing and ML pipeline improves 24-hour soil-moisture forecasts.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87635" y="9919821"/>
            <a:ext cx="11594563" cy="1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SIGNAL PROCESSING  •  FINAL PROJECT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714546" y="9869110"/>
            <a:ext cx="5857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7635" y="411404"/>
            <a:ext cx="7476544" cy="2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02  •  PROJECT GOALS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635" y="887635"/>
            <a:ext cx="16398916" cy="72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 &amp; Objectives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8510" y="1743294"/>
            <a:ext cx="1029500" cy="75495"/>
            <a:chOff x="0" y="0"/>
            <a:chExt cx="1372667" cy="100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616" cy="100711"/>
            </a:xfrm>
            <a:custGeom>
              <a:avLst/>
              <a:gdLst/>
              <a:ahLst/>
              <a:cxnLst/>
              <a:rect r="r" b="b" t="t" l="l"/>
              <a:pathLst>
                <a:path h="100711" w="1372616">
                  <a:moveTo>
                    <a:pt x="0" y="0"/>
                  </a:moveTo>
                  <a:lnTo>
                    <a:pt x="1372616" y="0"/>
                  </a:lnTo>
                  <a:lnTo>
                    <a:pt x="1372616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42665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987027" y="466306"/>
            <a:ext cx="1368152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03  /  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3429" y="2188654"/>
            <a:ext cx="7221779" cy="6260916"/>
            <a:chOff x="0" y="0"/>
            <a:chExt cx="9629038" cy="83478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29013" cy="8347711"/>
            </a:xfrm>
            <a:custGeom>
              <a:avLst/>
              <a:gdLst/>
              <a:ahLst/>
              <a:cxnLst/>
              <a:rect r="r" b="b" t="t" l="l"/>
              <a:pathLst>
                <a:path h="8347711" w="9629013">
                  <a:moveTo>
                    <a:pt x="0" y="1391285"/>
                  </a:moveTo>
                  <a:cubicBezTo>
                    <a:pt x="0" y="622935"/>
                    <a:pt x="622935" y="0"/>
                    <a:pt x="1391285" y="0"/>
                  </a:cubicBezTo>
                  <a:lnTo>
                    <a:pt x="8237728" y="0"/>
                  </a:lnTo>
                  <a:cubicBezTo>
                    <a:pt x="9006205" y="0"/>
                    <a:pt x="9629013" y="622935"/>
                    <a:pt x="9629013" y="1391285"/>
                  </a:cubicBezTo>
                  <a:lnTo>
                    <a:pt x="9629013" y="6956425"/>
                  </a:lnTo>
                  <a:cubicBezTo>
                    <a:pt x="9629013" y="7724902"/>
                    <a:pt x="9006078" y="8347711"/>
                    <a:pt x="8237728" y="8347711"/>
                  </a:cubicBezTo>
                  <a:lnTo>
                    <a:pt x="1391285" y="8347711"/>
                  </a:lnTo>
                  <a:cubicBezTo>
                    <a:pt x="622935" y="8347837"/>
                    <a:pt x="0" y="7724902"/>
                    <a:pt x="0" y="6956552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99439" y="2672105"/>
            <a:ext cx="4319397" cy="283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9439" y="3262360"/>
            <a:ext cx="6035240" cy="177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Noisy and irregular environmental time series can make future soil-moisture prediction difficult. A complex model also needs to be compared fairly with simple baselines.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9439" y="5595899"/>
            <a:ext cx="3358525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Research question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9439" y="6039355"/>
            <a:ext cx="5897975" cy="137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Does Hampel cleaning + CEEMDAN analysis + LightGBM improve 24-hour-ahead prediction, and which stages actually help?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434311" y="2188654"/>
            <a:ext cx="8965073" cy="6260916"/>
            <a:chOff x="0" y="0"/>
            <a:chExt cx="11953430" cy="83478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953367" cy="8347711"/>
            </a:xfrm>
            <a:custGeom>
              <a:avLst/>
              <a:gdLst/>
              <a:ahLst/>
              <a:cxnLst/>
              <a:rect r="r" b="b" t="t" l="l"/>
              <a:pathLst>
                <a:path h="8347711" w="11953367">
                  <a:moveTo>
                    <a:pt x="0" y="1391285"/>
                  </a:moveTo>
                  <a:cubicBezTo>
                    <a:pt x="0" y="622935"/>
                    <a:pt x="622935" y="0"/>
                    <a:pt x="1391285" y="0"/>
                  </a:cubicBezTo>
                  <a:lnTo>
                    <a:pt x="10562082" y="0"/>
                  </a:lnTo>
                  <a:cubicBezTo>
                    <a:pt x="11330559" y="0"/>
                    <a:pt x="11953367" y="622935"/>
                    <a:pt x="11953367" y="1391285"/>
                  </a:cubicBezTo>
                  <a:lnTo>
                    <a:pt x="11953367" y="6956425"/>
                  </a:lnTo>
                  <a:cubicBezTo>
                    <a:pt x="11953367" y="7724902"/>
                    <a:pt x="11330432" y="8347711"/>
                    <a:pt x="10562082" y="8347711"/>
                  </a:cubicBezTo>
                  <a:lnTo>
                    <a:pt x="1391285" y="8347711"/>
                  </a:lnTo>
                  <a:cubicBezTo>
                    <a:pt x="622935" y="8347837"/>
                    <a:pt x="0" y="7724902"/>
                    <a:pt x="0" y="695655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8958948" y="2672105"/>
            <a:ext cx="4319397" cy="283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PROJECT OBJECTIVES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14743" y="3204429"/>
            <a:ext cx="729044" cy="481965"/>
            <a:chOff x="0" y="0"/>
            <a:chExt cx="972058" cy="6426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2058" cy="642620"/>
            </a:xfrm>
            <a:custGeom>
              <a:avLst/>
              <a:gdLst/>
              <a:ahLst/>
              <a:cxnLst/>
              <a:rect r="r" b="b" t="t" l="l"/>
              <a:pathLst>
                <a:path h="642620" w="972058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864997" y="0"/>
                  </a:lnTo>
                  <a:cubicBezTo>
                    <a:pt x="924179" y="0"/>
                    <a:pt x="972058" y="48006"/>
                    <a:pt x="972058" y="107061"/>
                  </a:cubicBezTo>
                  <a:lnTo>
                    <a:pt x="972058" y="535559"/>
                  </a:lnTo>
                  <a:cubicBezTo>
                    <a:pt x="972058" y="594741"/>
                    <a:pt x="924052" y="642620"/>
                    <a:pt x="864997" y="642620"/>
                  </a:cubicBezTo>
                  <a:lnTo>
                    <a:pt x="107061" y="642620"/>
                  </a:lnTo>
                  <a:cubicBezTo>
                    <a:pt x="48006" y="642620"/>
                    <a:pt x="0" y="594614"/>
                    <a:pt x="0" y="535559"/>
                  </a:cubicBezTo>
                  <a:close/>
                </a:path>
              </a:pathLst>
            </a:custGeom>
            <a:solidFill>
              <a:srgbClr val="DCE9DD"/>
            </a:solidFill>
            <a:ln w="15252" cap="sq">
              <a:solidFill>
                <a:srgbClr val="DCE9DD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068762" y="3321463"/>
            <a:ext cx="421015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88448" y="3276086"/>
            <a:ext cx="1642691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Prepare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704291" y="3262351"/>
            <a:ext cx="5074368" cy="46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Clean, sort and resample station data hourly.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914743" y="4151576"/>
            <a:ext cx="729044" cy="481965"/>
            <a:chOff x="0" y="0"/>
            <a:chExt cx="972058" cy="6426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2058" cy="642620"/>
            </a:xfrm>
            <a:custGeom>
              <a:avLst/>
              <a:gdLst/>
              <a:ahLst/>
              <a:cxnLst/>
              <a:rect r="r" b="b" t="t" l="l"/>
              <a:pathLst>
                <a:path h="642620" w="972058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864997" y="0"/>
                  </a:lnTo>
                  <a:cubicBezTo>
                    <a:pt x="924179" y="0"/>
                    <a:pt x="972058" y="48006"/>
                    <a:pt x="972058" y="107061"/>
                  </a:cubicBezTo>
                  <a:lnTo>
                    <a:pt x="972058" y="535559"/>
                  </a:lnTo>
                  <a:cubicBezTo>
                    <a:pt x="972058" y="594741"/>
                    <a:pt x="924052" y="642620"/>
                    <a:pt x="864997" y="642620"/>
                  </a:cubicBezTo>
                  <a:lnTo>
                    <a:pt x="107061" y="642620"/>
                  </a:lnTo>
                  <a:cubicBezTo>
                    <a:pt x="48006" y="642620"/>
                    <a:pt x="0" y="594614"/>
                    <a:pt x="0" y="535559"/>
                  </a:cubicBezTo>
                  <a:close/>
                </a:path>
              </a:pathLst>
            </a:custGeom>
            <a:solidFill>
              <a:srgbClr val="E3ECF8"/>
            </a:solidFill>
            <a:ln w="15252" cap="sq">
              <a:solidFill>
                <a:srgbClr val="E3ECF8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9068762" y="4268610"/>
            <a:ext cx="421015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456B97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88448" y="4223223"/>
            <a:ext cx="1642691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Process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04291" y="4209498"/>
            <a:ext cx="5074368" cy="46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Detect spikes with Hampel and analyse components with CEEMDAN.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914743" y="5098713"/>
            <a:ext cx="729044" cy="481965"/>
            <a:chOff x="0" y="0"/>
            <a:chExt cx="972058" cy="6426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2058" cy="642620"/>
            </a:xfrm>
            <a:custGeom>
              <a:avLst/>
              <a:gdLst/>
              <a:ahLst/>
              <a:cxnLst/>
              <a:rect r="r" b="b" t="t" l="l"/>
              <a:pathLst>
                <a:path h="642620" w="972058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864997" y="0"/>
                  </a:lnTo>
                  <a:cubicBezTo>
                    <a:pt x="924179" y="0"/>
                    <a:pt x="972058" y="48006"/>
                    <a:pt x="972058" y="107061"/>
                  </a:cubicBezTo>
                  <a:lnTo>
                    <a:pt x="972058" y="535559"/>
                  </a:lnTo>
                  <a:cubicBezTo>
                    <a:pt x="972058" y="594741"/>
                    <a:pt x="924052" y="642620"/>
                    <a:pt x="864997" y="642620"/>
                  </a:cubicBezTo>
                  <a:lnTo>
                    <a:pt x="107061" y="642620"/>
                  </a:lnTo>
                  <a:cubicBezTo>
                    <a:pt x="48006" y="642620"/>
                    <a:pt x="0" y="594614"/>
                    <a:pt x="0" y="535559"/>
                  </a:cubicBezTo>
                  <a:close/>
                </a:path>
              </a:pathLst>
            </a:custGeom>
            <a:solidFill>
              <a:srgbClr val="DCE9DD"/>
            </a:solidFill>
            <a:ln w="15252" cap="sq">
              <a:solidFill>
                <a:srgbClr val="DCE9DD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9068762" y="5215757"/>
            <a:ext cx="421015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88448" y="5170370"/>
            <a:ext cx="1642691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Forecast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04291" y="5156644"/>
            <a:ext cx="5074368" cy="46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Train LightGBM for soil moisture 24 hours ahead.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914743" y="6045860"/>
            <a:ext cx="729044" cy="481965"/>
            <a:chOff x="0" y="0"/>
            <a:chExt cx="972058" cy="6426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2058" cy="642620"/>
            </a:xfrm>
            <a:custGeom>
              <a:avLst/>
              <a:gdLst/>
              <a:ahLst/>
              <a:cxnLst/>
              <a:rect r="r" b="b" t="t" l="l"/>
              <a:pathLst>
                <a:path h="642620" w="972058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864997" y="0"/>
                  </a:lnTo>
                  <a:cubicBezTo>
                    <a:pt x="924179" y="0"/>
                    <a:pt x="972058" y="48006"/>
                    <a:pt x="972058" y="107061"/>
                  </a:cubicBezTo>
                  <a:lnTo>
                    <a:pt x="972058" y="535559"/>
                  </a:lnTo>
                  <a:cubicBezTo>
                    <a:pt x="972058" y="594741"/>
                    <a:pt x="924052" y="642620"/>
                    <a:pt x="864997" y="642620"/>
                  </a:cubicBezTo>
                  <a:lnTo>
                    <a:pt x="107061" y="642620"/>
                  </a:lnTo>
                  <a:cubicBezTo>
                    <a:pt x="48006" y="642620"/>
                    <a:pt x="0" y="594614"/>
                    <a:pt x="0" y="535559"/>
                  </a:cubicBezTo>
                  <a:close/>
                </a:path>
              </a:pathLst>
            </a:custGeom>
            <a:solidFill>
              <a:srgbClr val="E3ECF8"/>
            </a:solidFill>
            <a:ln w="15252" cap="sq">
              <a:solidFill>
                <a:srgbClr val="E3ECF8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9068762" y="6162894"/>
            <a:ext cx="421015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456B97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88448" y="6117517"/>
            <a:ext cx="1642691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Evaluate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704291" y="6103791"/>
            <a:ext cx="5074368" cy="46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Compare MAE/RMSE with persistence and ridge baselines.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914743" y="6993007"/>
            <a:ext cx="729044" cy="481965"/>
            <a:chOff x="0" y="0"/>
            <a:chExt cx="972058" cy="6426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72058" cy="642620"/>
            </a:xfrm>
            <a:custGeom>
              <a:avLst/>
              <a:gdLst/>
              <a:ahLst/>
              <a:cxnLst/>
              <a:rect r="r" b="b" t="t" l="l"/>
              <a:pathLst>
                <a:path h="642620" w="972058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864997" y="0"/>
                  </a:lnTo>
                  <a:cubicBezTo>
                    <a:pt x="924179" y="0"/>
                    <a:pt x="972058" y="48006"/>
                    <a:pt x="972058" y="107061"/>
                  </a:cubicBezTo>
                  <a:lnTo>
                    <a:pt x="972058" y="535559"/>
                  </a:lnTo>
                  <a:cubicBezTo>
                    <a:pt x="972058" y="594741"/>
                    <a:pt x="924052" y="642620"/>
                    <a:pt x="864997" y="642620"/>
                  </a:cubicBezTo>
                  <a:lnTo>
                    <a:pt x="107061" y="642620"/>
                  </a:lnTo>
                  <a:cubicBezTo>
                    <a:pt x="48006" y="642620"/>
                    <a:pt x="0" y="594614"/>
                    <a:pt x="0" y="535559"/>
                  </a:cubicBezTo>
                  <a:close/>
                </a:path>
              </a:pathLst>
            </a:custGeom>
            <a:solidFill>
              <a:srgbClr val="DCE9DD"/>
            </a:solidFill>
            <a:ln w="15252" cap="sq">
              <a:solidFill>
                <a:srgbClr val="DCE9DD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9068762" y="7110041"/>
            <a:ext cx="421015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988448" y="7064654"/>
            <a:ext cx="1642691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Explain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704291" y="7050929"/>
            <a:ext cx="5074368" cy="46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Use SHAP and produce decision-support advice.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43429" y="8887292"/>
            <a:ext cx="16555955" cy="674132"/>
            <a:chOff x="0" y="0"/>
            <a:chExt cx="22074607" cy="89884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074632" cy="898906"/>
            </a:xfrm>
            <a:custGeom>
              <a:avLst/>
              <a:gdLst/>
              <a:ahLst/>
              <a:cxnLst/>
              <a:rect r="r" b="b" t="t" l="l"/>
              <a:pathLst>
                <a:path h="898906" w="22074632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21924772" y="0"/>
                  </a:lnTo>
                  <a:cubicBezTo>
                    <a:pt x="22007449" y="0"/>
                    <a:pt x="22074632" y="67056"/>
                    <a:pt x="22074632" y="149860"/>
                  </a:cubicBezTo>
                  <a:lnTo>
                    <a:pt x="22074632" y="749046"/>
                  </a:lnTo>
                  <a:cubicBezTo>
                    <a:pt x="22074632" y="831723"/>
                    <a:pt x="22007576" y="898906"/>
                    <a:pt x="21924772" y="898906"/>
                  </a:cubicBezTo>
                  <a:lnTo>
                    <a:pt x="149860" y="898906"/>
                  </a:lnTo>
                  <a:cubicBezTo>
                    <a:pt x="67056" y="898906"/>
                    <a:pt x="0" y="831723"/>
                    <a:pt x="0" y="749046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1162164" y="9072963"/>
            <a:ext cx="1368152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TAKEAWAY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617203" y="9041311"/>
            <a:ext cx="14408544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The contribution is a tested implementation and honest comparison—not a claim of a new algorithm.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87635" y="9919821"/>
            <a:ext cx="11594563" cy="1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SIGNAL PROCESSING  •  FINAL PROJECT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714546" y="9869110"/>
            <a:ext cx="5857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7635" y="411404"/>
            <a:ext cx="7476544" cy="2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03  •  RELATED 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635" y="887635"/>
            <a:ext cx="16398916" cy="72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Literature Review &amp; Research Gap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8510" y="1743294"/>
            <a:ext cx="1029500" cy="75495"/>
            <a:chOff x="0" y="0"/>
            <a:chExt cx="1372667" cy="100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616" cy="100711"/>
            </a:xfrm>
            <a:custGeom>
              <a:avLst/>
              <a:gdLst/>
              <a:ahLst/>
              <a:cxnLst/>
              <a:rect r="r" b="b" t="t" l="l"/>
              <a:pathLst>
                <a:path h="100711" w="1372616">
                  <a:moveTo>
                    <a:pt x="0" y="0"/>
                  </a:moveTo>
                  <a:lnTo>
                    <a:pt x="1372616" y="0"/>
                  </a:lnTo>
                  <a:lnTo>
                    <a:pt x="1372616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42665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987027" y="466306"/>
            <a:ext cx="1368152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04  /  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3429" y="2188654"/>
            <a:ext cx="8045386" cy="2046808"/>
            <a:chOff x="0" y="0"/>
            <a:chExt cx="10727182" cy="27290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27182" cy="2729103"/>
            </a:xfrm>
            <a:custGeom>
              <a:avLst/>
              <a:gdLst/>
              <a:ahLst/>
              <a:cxnLst/>
              <a:rect r="r" b="b" t="t" l="l"/>
              <a:pathLst>
                <a:path h="2729103" w="10727182">
                  <a:moveTo>
                    <a:pt x="0" y="454914"/>
                  </a:moveTo>
                  <a:cubicBezTo>
                    <a:pt x="0" y="203708"/>
                    <a:pt x="203708" y="0"/>
                    <a:pt x="454914" y="0"/>
                  </a:cubicBezTo>
                  <a:lnTo>
                    <a:pt x="10272268" y="0"/>
                  </a:lnTo>
                  <a:cubicBezTo>
                    <a:pt x="10523475" y="0"/>
                    <a:pt x="10727182" y="203708"/>
                    <a:pt x="10727182" y="454914"/>
                  </a:cubicBezTo>
                  <a:lnTo>
                    <a:pt x="10727182" y="2274189"/>
                  </a:lnTo>
                  <a:cubicBezTo>
                    <a:pt x="10727182" y="2525395"/>
                    <a:pt x="10523475" y="2729103"/>
                    <a:pt x="10272268" y="2729103"/>
                  </a:cubicBezTo>
                  <a:lnTo>
                    <a:pt x="454914" y="2729103"/>
                  </a:lnTo>
                  <a:cubicBezTo>
                    <a:pt x="203708" y="2729103"/>
                    <a:pt x="0" y="2525395"/>
                    <a:pt x="0" y="227418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17968" y="2408282"/>
            <a:ext cx="3103769" cy="481965"/>
            <a:chOff x="0" y="0"/>
            <a:chExt cx="4138358" cy="6426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38295" cy="642620"/>
            </a:xfrm>
            <a:custGeom>
              <a:avLst/>
              <a:gdLst/>
              <a:ahLst/>
              <a:cxnLst/>
              <a:rect r="r" b="b" t="t" l="l"/>
              <a:pathLst>
                <a:path h="642620" w="4138295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4031234" y="0"/>
                  </a:lnTo>
                  <a:cubicBezTo>
                    <a:pt x="4090416" y="0"/>
                    <a:pt x="4138295" y="48006"/>
                    <a:pt x="4138295" y="107061"/>
                  </a:cubicBezTo>
                  <a:lnTo>
                    <a:pt x="4138295" y="535559"/>
                  </a:lnTo>
                  <a:cubicBezTo>
                    <a:pt x="4138295" y="594741"/>
                    <a:pt x="4090289" y="642620"/>
                    <a:pt x="4031234" y="642620"/>
                  </a:cubicBezTo>
                  <a:lnTo>
                    <a:pt x="107061" y="642620"/>
                  </a:lnTo>
                  <a:cubicBezTo>
                    <a:pt x="48006" y="642620"/>
                    <a:pt x="0" y="594614"/>
                    <a:pt x="0" y="535559"/>
                  </a:cubicBezTo>
                  <a:close/>
                </a:path>
              </a:pathLst>
            </a:custGeom>
            <a:solidFill>
              <a:srgbClr val="DCE9DD"/>
            </a:solidFill>
            <a:ln w="15252" cap="sq">
              <a:solidFill>
                <a:srgbClr val="DCE9DD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71978" y="2525316"/>
            <a:ext cx="2795730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Ullah et al. (2020)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2164" y="3005747"/>
            <a:ext cx="7202014" cy="2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ANN + Kalman filtering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2164" y="3440801"/>
            <a:ext cx="7133377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Sensor-noise reduction in greenhouse environments.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2164" y="3811429"/>
            <a:ext cx="7202014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Gap: Different target; no CEEMDAN/SHAP pipeline.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85370" y="2188654"/>
            <a:ext cx="8045386" cy="2046808"/>
            <a:chOff x="0" y="0"/>
            <a:chExt cx="10727182" cy="27290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27182" cy="2729103"/>
            </a:xfrm>
            <a:custGeom>
              <a:avLst/>
              <a:gdLst/>
              <a:ahLst/>
              <a:cxnLst/>
              <a:rect r="r" b="b" t="t" l="l"/>
              <a:pathLst>
                <a:path h="2729103" w="10727182">
                  <a:moveTo>
                    <a:pt x="0" y="454914"/>
                  </a:moveTo>
                  <a:cubicBezTo>
                    <a:pt x="0" y="203708"/>
                    <a:pt x="203708" y="0"/>
                    <a:pt x="454914" y="0"/>
                  </a:cubicBezTo>
                  <a:lnTo>
                    <a:pt x="10272268" y="0"/>
                  </a:lnTo>
                  <a:cubicBezTo>
                    <a:pt x="10523475" y="0"/>
                    <a:pt x="10727182" y="203708"/>
                    <a:pt x="10727182" y="454914"/>
                  </a:cubicBezTo>
                  <a:lnTo>
                    <a:pt x="10727182" y="2274189"/>
                  </a:lnTo>
                  <a:cubicBezTo>
                    <a:pt x="10727182" y="2525395"/>
                    <a:pt x="10523475" y="2729103"/>
                    <a:pt x="10272268" y="2729103"/>
                  </a:cubicBezTo>
                  <a:lnTo>
                    <a:pt x="454914" y="2729103"/>
                  </a:lnTo>
                  <a:cubicBezTo>
                    <a:pt x="203708" y="2729103"/>
                    <a:pt x="0" y="2525395"/>
                    <a:pt x="0" y="227418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559900" y="2408282"/>
            <a:ext cx="3103769" cy="481965"/>
            <a:chOff x="0" y="0"/>
            <a:chExt cx="4138358" cy="6426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38295" cy="642620"/>
            </a:xfrm>
            <a:custGeom>
              <a:avLst/>
              <a:gdLst/>
              <a:ahLst/>
              <a:cxnLst/>
              <a:rect r="r" b="b" t="t" l="l"/>
              <a:pathLst>
                <a:path h="642620" w="4138295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4031234" y="0"/>
                  </a:lnTo>
                  <a:cubicBezTo>
                    <a:pt x="4090416" y="0"/>
                    <a:pt x="4138295" y="48006"/>
                    <a:pt x="4138295" y="107061"/>
                  </a:cubicBezTo>
                  <a:lnTo>
                    <a:pt x="4138295" y="535559"/>
                  </a:lnTo>
                  <a:cubicBezTo>
                    <a:pt x="4138295" y="594741"/>
                    <a:pt x="4090289" y="642620"/>
                    <a:pt x="4031234" y="642620"/>
                  </a:cubicBezTo>
                  <a:lnTo>
                    <a:pt x="107061" y="642620"/>
                  </a:lnTo>
                  <a:cubicBezTo>
                    <a:pt x="48006" y="642620"/>
                    <a:pt x="0" y="594614"/>
                    <a:pt x="0" y="535559"/>
                  </a:cubicBezTo>
                  <a:close/>
                </a:path>
              </a:pathLst>
            </a:custGeom>
            <a:solidFill>
              <a:srgbClr val="E3ECF8"/>
            </a:solidFill>
            <a:ln w="15252" cap="sq">
              <a:solidFill>
                <a:srgbClr val="E3ECF8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713919" y="2525316"/>
            <a:ext cx="2795730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456B97"/>
                </a:solidFill>
                <a:latin typeface="Aptos Bold"/>
                <a:ea typeface="Aptos Bold"/>
                <a:cs typeface="Aptos Bold"/>
                <a:sym typeface="Aptos Bold"/>
              </a:rPr>
              <a:t>Singh et al. (2019)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04105" y="3005747"/>
            <a:ext cx="7202014" cy="2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ML for smart irrigation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04105" y="3440801"/>
            <a:ext cx="7133377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Shows soil moisture can be modelled from IoT data.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04105" y="3811429"/>
            <a:ext cx="7202014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Gap: Limited robust filtering and interpretability.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43429" y="4549645"/>
            <a:ext cx="8045386" cy="2046808"/>
            <a:chOff x="0" y="0"/>
            <a:chExt cx="10727182" cy="27290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27182" cy="2729103"/>
            </a:xfrm>
            <a:custGeom>
              <a:avLst/>
              <a:gdLst/>
              <a:ahLst/>
              <a:cxnLst/>
              <a:rect r="r" b="b" t="t" l="l"/>
              <a:pathLst>
                <a:path h="2729103" w="10727182">
                  <a:moveTo>
                    <a:pt x="0" y="454914"/>
                  </a:moveTo>
                  <a:cubicBezTo>
                    <a:pt x="0" y="203708"/>
                    <a:pt x="203708" y="0"/>
                    <a:pt x="454914" y="0"/>
                  </a:cubicBezTo>
                  <a:lnTo>
                    <a:pt x="10272268" y="0"/>
                  </a:lnTo>
                  <a:cubicBezTo>
                    <a:pt x="10523475" y="0"/>
                    <a:pt x="10727182" y="203708"/>
                    <a:pt x="10727182" y="454914"/>
                  </a:cubicBezTo>
                  <a:lnTo>
                    <a:pt x="10727182" y="2274189"/>
                  </a:lnTo>
                  <a:cubicBezTo>
                    <a:pt x="10727182" y="2525395"/>
                    <a:pt x="10523475" y="2729103"/>
                    <a:pt x="10272268" y="2729103"/>
                  </a:cubicBezTo>
                  <a:lnTo>
                    <a:pt x="454914" y="2729103"/>
                  </a:lnTo>
                  <a:cubicBezTo>
                    <a:pt x="203708" y="2729103"/>
                    <a:pt x="0" y="2525395"/>
                    <a:pt x="0" y="227418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17968" y="4769272"/>
            <a:ext cx="3103769" cy="481965"/>
            <a:chOff x="0" y="0"/>
            <a:chExt cx="4138358" cy="6426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38295" cy="642620"/>
            </a:xfrm>
            <a:custGeom>
              <a:avLst/>
              <a:gdLst/>
              <a:ahLst/>
              <a:cxnLst/>
              <a:rect r="r" b="b" t="t" l="l"/>
              <a:pathLst>
                <a:path h="642620" w="4138295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4031234" y="0"/>
                  </a:lnTo>
                  <a:cubicBezTo>
                    <a:pt x="4090416" y="0"/>
                    <a:pt x="4138295" y="48006"/>
                    <a:pt x="4138295" y="107061"/>
                  </a:cubicBezTo>
                  <a:lnTo>
                    <a:pt x="4138295" y="535559"/>
                  </a:lnTo>
                  <a:cubicBezTo>
                    <a:pt x="4138295" y="594741"/>
                    <a:pt x="4090289" y="642620"/>
                    <a:pt x="4031234" y="642620"/>
                  </a:cubicBezTo>
                  <a:lnTo>
                    <a:pt x="107061" y="642620"/>
                  </a:lnTo>
                  <a:cubicBezTo>
                    <a:pt x="48006" y="642620"/>
                    <a:pt x="0" y="594614"/>
                    <a:pt x="0" y="535559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271978" y="4886315"/>
            <a:ext cx="2795730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Mabunga &amp; Dela Cruz (2022)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2164" y="5366747"/>
            <a:ext cx="7202014" cy="2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Optimised Gaussian Process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2164" y="5801801"/>
            <a:ext cx="7133377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Predicts moisture from environmental variables.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62164" y="6172419"/>
            <a:ext cx="7202014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Gap: No multiscale decomposition or SHAP.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85370" y="4549645"/>
            <a:ext cx="8045386" cy="2046808"/>
            <a:chOff x="0" y="0"/>
            <a:chExt cx="10727182" cy="27290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27182" cy="2729103"/>
            </a:xfrm>
            <a:custGeom>
              <a:avLst/>
              <a:gdLst/>
              <a:ahLst/>
              <a:cxnLst/>
              <a:rect r="r" b="b" t="t" l="l"/>
              <a:pathLst>
                <a:path h="2729103" w="10727182">
                  <a:moveTo>
                    <a:pt x="0" y="454914"/>
                  </a:moveTo>
                  <a:cubicBezTo>
                    <a:pt x="0" y="203708"/>
                    <a:pt x="203708" y="0"/>
                    <a:pt x="454914" y="0"/>
                  </a:cubicBezTo>
                  <a:lnTo>
                    <a:pt x="10272268" y="0"/>
                  </a:lnTo>
                  <a:cubicBezTo>
                    <a:pt x="10523475" y="0"/>
                    <a:pt x="10727182" y="203708"/>
                    <a:pt x="10727182" y="454914"/>
                  </a:cubicBezTo>
                  <a:lnTo>
                    <a:pt x="10727182" y="2274189"/>
                  </a:lnTo>
                  <a:cubicBezTo>
                    <a:pt x="10727182" y="2525395"/>
                    <a:pt x="10523475" y="2729103"/>
                    <a:pt x="10272268" y="2729103"/>
                  </a:cubicBezTo>
                  <a:lnTo>
                    <a:pt x="454914" y="2729103"/>
                  </a:lnTo>
                  <a:cubicBezTo>
                    <a:pt x="203708" y="2729103"/>
                    <a:pt x="0" y="2525395"/>
                    <a:pt x="0" y="227418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559900" y="4769272"/>
            <a:ext cx="3103769" cy="481965"/>
            <a:chOff x="0" y="0"/>
            <a:chExt cx="4138358" cy="6426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38295" cy="642620"/>
            </a:xfrm>
            <a:custGeom>
              <a:avLst/>
              <a:gdLst/>
              <a:ahLst/>
              <a:cxnLst/>
              <a:rect r="r" b="b" t="t" l="l"/>
              <a:pathLst>
                <a:path h="642620" w="4138295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4031234" y="0"/>
                  </a:lnTo>
                  <a:cubicBezTo>
                    <a:pt x="4090416" y="0"/>
                    <a:pt x="4138295" y="48006"/>
                    <a:pt x="4138295" y="107061"/>
                  </a:cubicBezTo>
                  <a:lnTo>
                    <a:pt x="4138295" y="535559"/>
                  </a:lnTo>
                  <a:cubicBezTo>
                    <a:pt x="4138295" y="594741"/>
                    <a:pt x="4090289" y="642620"/>
                    <a:pt x="4031234" y="642620"/>
                  </a:cubicBezTo>
                  <a:lnTo>
                    <a:pt x="107061" y="642620"/>
                  </a:lnTo>
                  <a:cubicBezTo>
                    <a:pt x="48006" y="642620"/>
                    <a:pt x="0" y="594614"/>
                    <a:pt x="0" y="535559"/>
                  </a:cubicBezTo>
                  <a:close/>
                </a:path>
              </a:pathLst>
            </a:custGeom>
            <a:solidFill>
              <a:srgbClr val="F0F2EB"/>
            </a:solidFill>
            <a:ln w="15252" cap="sq">
              <a:solidFill>
                <a:srgbClr val="F0F2EB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9713919" y="4886315"/>
            <a:ext cx="2795730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Afzal et al. (2025)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04105" y="5366747"/>
            <a:ext cx="7202014" cy="2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ARIMA-based watering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04105" y="5801801"/>
            <a:ext cx="7133377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Connects time-series prediction to watering.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04105" y="6172419"/>
            <a:ext cx="7202014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Gap: Linear/stationary assumptions; different pipeline.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43429" y="7061635"/>
            <a:ext cx="16555955" cy="1305563"/>
            <a:chOff x="0" y="0"/>
            <a:chExt cx="22074607" cy="174075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074505" cy="1740662"/>
            </a:xfrm>
            <a:custGeom>
              <a:avLst/>
              <a:gdLst/>
              <a:ahLst/>
              <a:cxnLst/>
              <a:rect r="r" b="b" t="t" l="l"/>
              <a:pathLst>
                <a:path h="1740662" w="22074505">
                  <a:moveTo>
                    <a:pt x="0" y="290068"/>
                  </a:moveTo>
                  <a:cubicBezTo>
                    <a:pt x="0" y="129921"/>
                    <a:pt x="129921" y="0"/>
                    <a:pt x="290068" y="0"/>
                  </a:cubicBezTo>
                  <a:lnTo>
                    <a:pt x="21784438" y="0"/>
                  </a:lnTo>
                  <a:cubicBezTo>
                    <a:pt x="21944712" y="0"/>
                    <a:pt x="22074505" y="129921"/>
                    <a:pt x="22074505" y="290068"/>
                  </a:cubicBezTo>
                  <a:lnTo>
                    <a:pt x="22074505" y="1450594"/>
                  </a:lnTo>
                  <a:cubicBezTo>
                    <a:pt x="22074505" y="1610868"/>
                    <a:pt x="21944585" y="1740662"/>
                    <a:pt x="21784438" y="1740662"/>
                  </a:cubicBezTo>
                  <a:lnTo>
                    <a:pt x="290068" y="1740662"/>
                  </a:lnTo>
                  <a:cubicBezTo>
                    <a:pt x="129921" y="1740789"/>
                    <a:pt x="0" y="1610868"/>
                    <a:pt x="0" y="1450594"/>
                  </a:cubicBezTo>
                  <a:close/>
                </a:path>
              </a:pathLst>
            </a:custGeom>
            <a:solidFill>
              <a:srgbClr val="DCE9DD"/>
            </a:solidFill>
            <a:ln w="15252" cap="sq">
              <a:solidFill>
                <a:srgbClr val="DCE9DD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1271978" y="7421556"/>
            <a:ext cx="2054495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RESEARCH GAP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399625" y="7302217"/>
            <a:ext cx="13379034" cy="62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We evaluate Hampel + CEEMDAN + LightGBM + SHAP on one real station record and test whether each stage beats simple baselines.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4900" y="8537619"/>
            <a:ext cx="6790211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i="true">
                <a:solidFill>
                  <a:srgbClr val="68756E"/>
                </a:solidFill>
                <a:latin typeface="Aptos Italics"/>
                <a:ea typeface="Aptos Italics"/>
                <a:cs typeface="Aptos Italics"/>
                <a:sym typeface="Aptos Italics"/>
              </a:rPr>
              <a:t>References are listed on the final slide.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87635" y="9919821"/>
            <a:ext cx="11594563" cy="1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SIGNAL PROCESSING  •  FINAL PROJECT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714546" y="9869110"/>
            <a:ext cx="5857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7635" y="411404"/>
            <a:ext cx="7476544" cy="2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04  •  METHOD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635" y="887635"/>
            <a:ext cx="16398916" cy="72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Proposed System: Overview of Our Approach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8510" y="1743294"/>
            <a:ext cx="1029500" cy="75495"/>
            <a:chOff x="0" y="0"/>
            <a:chExt cx="1372667" cy="100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616" cy="100711"/>
            </a:xfrm>
            <a:custGeom>
              <a:avLst/>
              <a:gdLst/>
              <a:ahLst/>
              <a:cxnLst/>
              <a:rect r="r" b="b" t="t" l="l"/>
              <a:pathLst>
                <a:path h="100711" w="1372616">
                  <a:moveTo>
                    <a:pt x="0" y="0"/>
                  </a:moveTo>
                  <a:lnTo>
                    <a:pt x="1372616" y="0"/>
                  </a:lnTo>
                  <a:lnTo>
                    <a:pt x="1372616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42665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987027" y="466306"/>
            <a:ext cx="1368152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05  /  15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9997" y="2058610"/>
            <a:ext cx="15849848" cy="375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A software-only pipeline from real station measurements to an interpretable forecast.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43429" y="3122066"/>
            <a:ext cx="2376249" cy="2897867"/>
            <a:chOff x="0" y="0"/>
            <a:chExt cx="3168332" cy="38638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68269" cy="3863848"/>
            </a:xfrm>
            <a:custGeom>
              <a:avLst/>
              <a:gdLst/>
              <a:ahLst/>
              <a:cxnLst/>
              <a:rect r="r" b="b" t="t" l="l"/>
              <a:pathLst>
                <a:path h="3863848" w="3168269">
                  <a:moveTo>
                    <a:pt x="0" y="528066"/>
                  </a:moveTo>
                  <a:cubicBezTo>
                    <a:pt x="0" y="236474"/>
                    <a:pt x="236474" y="0"/>
                    <a:pt x="528066" y="0"/>
                  </a:cubicBezTo>
                  <a:lnTo>
                    <a:pt x="2640203" y="0"/>
                  </a:lnTo>
                  <a:cubicBezTo>
                    <a:pt x="2931795" y="0"/>
                    <a:pt x="3168269" y="236474"/>
                    <a:pt x="3168269" y="528066"/>
                  </a:cubicBezTo>
                  <a:lnTo>
                    <a:pt x="3168269" y="3335782"/>
                  </a:lnTo>
                  <a:cubicBezTo>
                    <a:pt x="3168269" y="3627374"/>
                    <a:pt x="2931795" y="3863848"/>
                    <a:pt x="2640203" y="3863848"/>
                  </a:cubicBezTo>
                  <a:lnTo>
                    <a:pt x="528066" y="3863848"/>
                  </a:lnTo>
                  <a:cubicBezTo>
                    <a:pt x="236474" y="3863848"/>
                    <a:pt x="0" y="3627374"/>
                    <a:pt x="0" y="333578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35606" y="3396605"/>
            <a:ext cx="729044" cy="674132"/>
            <a:chOff x="0" y="0"/>
            <a:chExt cx="972058" cy="8988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2058" cy="898906"/>
            </a:xfrm>
            <a:custGeom>
              <a:avLst/>
              <a:gdLst/>
              <a:ahLst/>
              <a:cxnLst/>
              <a:rect r="r" b="b" t="t" l="l"/>
              <a:pathLst>
                <a:path h="898906" w="972058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822198" y="0"/>
                  </a:lnTo>
                  <a:cubicBezTo>
                    <a:pt x="904875" y="0"/>
                    <a:pt x="972058" y="67056"/>
                    <a:pt x="972058" y="149860"/>
                  </a:cubicBezTo>
                  <a:lnTo>
                    <a:pt x="972058" y="749046"/>
                  </a:lnTo>
                  <a:cubicBezTo>
                    <a:pt x="972058" y="831723"/>
                    <a:pt x="905002" y="898906"/>
                    <a:pt x="822198" y="898906"/>
                  </a:cubicBezTo>
                  <a:lnTo>
                    <a:pt x="149860" y="898906"/>
                  </a:lnTo>
                  <a:cubicBezTo>
                    <a:pt x="67056" y="898906"/>
                    <a:pt x="0" y="831723"/>
                    <a:pt x="0" y="749046"/>
                  </a:cubicBezTo>
                  <a:close/>
                </a:path>
              </a:pathLst>
            </a:custGeom>
            <a:solidFill>
              <a:srgbClr val="DCE9DD"/>
            </a:solidFill>
            <a:ln w="15252" cap="sq">
              <a:solidFill>
                <a:srgbClr val="DCE9D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079811" y="3619252"/>
            <a:ext cx="640642" cy="173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7262" y="4319311"/>
            <a:ext cx="1848593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3537" y="4813478"/>
            <a:ext cx="1876044" cy="668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Weather-station</a:t>
            </a:r>
          </a:p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records</a:t>
            </a:r>
          </a:p>
        </p:txBody>
      </p:sp>
      <p:sp>
        <p:nvSpPr>
          <p:cNvPr name="AutoShape 15" id="15"/>
          <p:cNvSpPr/>
          <p:nvPr/>
        </p:nvSpPr>
        <p:spPr>
          <a:xfrm rot="309420">
            <a:off x="3219583" y="4561475"/>
            <a:ext cx="424196" cy="0"/>
          </a:xfrm>
          <a:prstGeom prst="line">
            <a:avLst/>
          </a:prstGeom>
          <a:ln cap="rnd" w="19050">
            <a:solidFill>
              <a:srgbClr val="42665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3472863" y="4420010"/>
            <a:ext cx="274539" cy="301990"/>
            <a:chOff x="0" y="0"/>
            <a:chExt cx="366052" cy="40265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6014" cy="402590"/>
            </a:xfrm>
            <a:custGeom>
              <a:avLst/>
              <a:gdLst/>
              <a:ahLst/>
              <a:cxnLst/>
              <a:rect r="r" b="b" t="t" l="l"/>
              <a:pathLst>
                <a:path h="402590" w="366014">
                  <a:moveTo>
                    <a:pt x="0" y="0"/>
                  </a:moveTo>
                  <a:lnTo>
                    <a:pt x="183007" y="0"/>
                  </a:lnTo>
                  <a:lnTo>
                    <a:pt x="366014" y="201295"/>
                  </a:lnTo>
                  <a:lnTo>
                    <a:pt x="183007" y="402590"/>
                  </a:lnTo>
                  <a:lnTo>
                    <a:pt x="0" y="402590"/>
                  </a:lnTo>
                  <a:lnTo>
                    <a:pt x="183007" y="201295"/>
                  </a:lnTo>
                  <a:close/>
                </a:path>
              </a:pathLst>
            </a:custGeom>
            <a:solidFill>
              <a:srgbClr val="42665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698586" y="3122066"/>
            <a:ext cx="2376249" cy="2897867"/>
            <a:chOff x="0" y="0"/>
            <a:chExt cx="3168332" cy="38638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68269" cy="3863848"/>
            </a:xfrm>
            <a:custGeom>
              <a:avLst/>
              <a:gdLst/>
              <a:ahLst/>
              <a:cxnLst/>
              <a:rect r="r" b="b" t="t" l="l"/>
              <a:pathLst>
                <a:path h="3863848" w="3168269">
                  <a:moveTo>
                    <a:pt x="0" y="528066"/>
                  </a:moveTo>
                  <a:cubicBezTo>
                    <a:pt x="0" y="236474"/>
                    <a:pt x="236474" y="0"/>
                    <a:pt x="528066" y="0"/>
                  </a:cubicBezTo>
                  <a:lnTo>
                    <a:pt x="2640203" y="0"/>
                  </a:lnTo>
                  <a:cubicBezTo>
                    <a:pt x="2931795" y="0"/>
                    <a:pt x="3168269" y="236474"/>
                    <a:pt x="3168269" y="528066"/>
                  </a:cubicBezTo>
                  <a:lnTo>
                    <a:pt x="3168269" y="3335782"/>
                  </a:lnTo>
                  <a:cubicBezTo>
                    <a:pt x="3168269" y="3627374"/>
                    <a:pt x="2931795" y="3863848"/>
                    <a:pt x="2640203" y="3863848"/>
                  </a:cubicBezTo>
                  <a:lnTo>
                    <a:pt x="528066" y="3863848"/>
                  </a:lnTo>
                  <a:cubicBezTo>
                    <a:pt x="236474" y="3863848"/>
                    <a:pt x="0" y="3627374"/>
                    <a:pt x="0" y="333578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890762" y="3396605"/>
            <a:ext cx="729044" cy="674132"/>
            <a:chOff x="0" y="0"/>
            <a:chExt cx="972058" cy="8988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2058" cy="898906"/>
            </a:xfrm>
            <a:custGeom>
              <a:avLst/>
              <a:gdLst/>
              <a:ahLst/>
              <a:cxnLst/>
              <a:rect r="r" b="b" t="t" l="l"/>
              <a:pathLst>
                <a:path h="898906" w="972058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822198" y="0"/>
                  </a:lnTo>
                  <a:cubicBezTo>
                    <a:pt x="904875" y="0"/>
                    <a:pt x="972058" y="67056"/>
                    <a:pt x="972058" y="149860"/>
                  </a:cubicBezTo>
                  <a:lnTo>
                    <a:pt x="972058" y="749046"/>
                  </a:lnTo>
                  <a:cubicBezTo>
                    <a:pt x="972058" y="831723"/>
                    <a:pt x="905002" y="898906"/>
                    <a:pt x="822198" y="898906"/>
                  </a:cubicBezTo>
                  <a:lnTo>
                    <a:pt x="149860" y="898906"/>
                  </a:lnTo>
                  <a:cubicBezTo>
                    <a:pt x="67056" y="898906"/>
                    <a:pt x="0" y="831723"/>
                    <a:pt x="0" y="749046"/>
                  </a:cubicBezTo>
                  <a:close/>
                </a:path>
              </a:pathLst>
            </a:custGeom>
            <a:solidFill>
              <a:srgbClr val="E3ECF8"/>
            </a:solidFill>
            <a:ln w="15252" cap="sq">
              <a:solidFill>
                <a:srgbClr val="E3ECF8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3934968" y="3619252"/>
            <a:ext cx="640642" cy="173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962419" y="4319311"/>
            <a:ext cx="1848593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CLEAN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948694" y="4813478"/>
            <a:ext cx="1876044" cy="668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Sort + hourly</a:t>
            </a:r>
          </a:p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resampling</a:t>
            </a:r>
          </a:p>
        </p:txBody>
      </p:sp>
      <p:sp>
        <p:nvSpPr>
          <p:cNvPr name="AutoShape 25" id="25"/>
          <p:cNvSpPr/>
          <p:nvPr/>
        </p:nvSpPr>
        <p:spPr>
          <a:xfrm rot="309420">
            <a:off x="6074740" y="4561475"/>
            <a:ext cx="424196" cy="0"/>
          </a:xfrm>
          <a:prstGeom prst="line">
            <a:avLst/>
          </a:prstGeom>
          <a:ln cap="rnd" w="19050">
            <a:solidFill>
              <a:srgbClr val="42665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6328019" y="4420010"/>
            <a:ext cx="274539" cy="301990"/>
            <a:chOff x="0" y="0"/>
            <a:chExt cx="366052" cy="4026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6014" cy="402590"/>
            </a:xfrm>
            <a:custGeom>
              <a:avLst/>
              <a:gdLst/>
              <a:ahLst/>
              <a:cxnLst/>
              <a:rect r="r" b="b" t="t" l="l"/>
              <a:pathLst>
                <a:path h="402590" w="366014">
                  <a:moveTo>
                    <a:pt x="0" y="0"/>
                  </a:moveTo>
                  <a:lnTo>
                    <a:pt x="183007" y="0"/>
                  </a:lnTo>
                  <a:lnTo>
                    <a:pt x="366014" y="201295"/>
                  </a:lnTo>
                  <a:lnTo>
                    <a:pt x="183007" y="402590"/>
                  </a:lnTo>
                  <a:lnTo>
                    <a:pt x="0" y="402590"/>
                  </a:lnTo>
                  <a:lnTo>
                    <a:pt x="183007" y="201295"/>
                  </a:lnTo>
                  <a:close/>
                </a:path>
              </a:pathLst>
            </a:custGeom>
            <a:solidFill>
              <a:srgbClr val="42665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553752" y="3122066"/>
            <a:ext cx="2376249" cy="2897867"/>
            <a:chOff x="0" y="0"/>
            <a:chExt cx="3168332" cy="386382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168269" cy="3863848"/>
            </a:xfrm>
            <a:custGeom>
              <a:avLst/>
              <a:gdLst/>
              <a:ahLst/>
              <a:cxnLst/>
              <a:rect r="r" b="b" t="t" l="l"/>
              <a:pathLst>
                <a:path h="3863848" w="3168269">
                  <a:moveTo>
                    <a:pt x="0" y="528066"/>
                  </a:moveTo>
                  <a:cubicBezTo>
                    <a:pt x="0" y="236474"/>
                    <a:pt x="236474" y="0"/>
                    <a:pt x="528066" y="0"/>
                  </a:cubicBezTo>
                  <a:lnTo>
                    <a:pt x="2640203" y="0"/>
                  </a:lnTo>
                  <a:cubicBezTo>
                    <a:pt x="2931795" y="0"/>
                    <a:pt x="3168269" y="236474"/>
                    <a:pt x="3168269" y="528066"/>
                  </a:cubicBezTo>
                  <a:lnTo>
                    <a:pt x="3168269" y="3335782"/>
                  </a:lnTo>
                  <a:cubicBezTo>
                    <a:pt x="3168269" y="3627374"/>
                    <a:pt x="2931795" y="3863848"/>
                    <a:pt x="2640203" y="3863848"/>
                  </a:cubicBezTo>
                  <a:lnTo>
                    <a:pt x="528066" y="3863848"/>
                  </a:lnTo>
                  <a:cubicBezTo>
                    <a:pt x="236474" y="3863848"/>
                    <a:pt x="0" y="3627374"/>
                    <a:pt x="0" y="333578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745919" y="3396605"/>
            <a:ext cx="729044" cy="674132"/>
            <a:chOff x="0" y="0"/>
            <a:chExt cx="972058" cy="89884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2058" cy="898906"/>
            </a:xfrm>
            <a:custGeom>
              <a:avLst/>
              <a:gdLst/>
              <a:ahLst/>
              <a:cxnLst/>
              <a:rect r="r" b="b" t="t" l="l"/>
              <a:pathLst>
                <a:path h="898906" w="972058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822198" y="0"/>
                  </a:lnTo>
                  <a:cubicBezTo>
                    <a:pt x="904875" y="0"/>
                    <a:pt x="972058" y="67056"/>
                    <a:pt x="972058" y="149860"/>
                  </a:cubicBezTo>
                  <a:lnTo>
                    <a:pt x="972058" y="749046"/>
                  </a:lnTo>
                  <a:cubicBezTo>
                    <a:pt x="972058" y="831723"/>
                    <a:pt x="905002" y="898906"/>
                    <a:pt x="822198" y="898906"/>
                  </a:cubicBezTo>
                  <a:lnTo>
                    <a:pt x="149860" y="898906"/>
                  </a:lnTo>
                  <a:cubicBezTo>
                    <a:pt x="67056" y="898906"/>
                    <a:pt x="0" y="831723"/>
                    <a:pt x="0" y="749046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6790125" y="3619252"/>
            <a:ext cx="640642" cy="173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17576" y="4319311"/>
            <a:ext cx="1848593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FILTER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803850" y="4813478"/>
            <a:ext cx="1876044" cy="668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Hampel spike</a:t>
            </a:r>
          </a:p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replacement</a:t>
            </a:r>
          </a:p>
        </p:txBody>
      </p:sp>
      <p:sp>
        <p:nvSpPr>
          <p:cNvPr name="AutoShape 35" id="35"/>
          <p:cNvSpPr/>
          <p:nvPr/>
        </p:nvSpPr>
        <p:spPr>
          <a:xfrm rot="309420">
            <a:off x="8929897" y="4561475"/>
            <a:ext cx="424196" cy="0"/>
          </a:xfrm>
          <a:prstGeom prst="line">
            <a:avLst/>
          </a:prstGeom>
          <a:ln cap="rnd" w="19050">
            <a:solidFill>
              <a:srgbClr val="42665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9183176" y="4420010"/>
            <a:ext cx="274539" cy="301990"/>
            <a:chOff x="0" y="0"/>
            <a:chExt cx="366052" cy="40265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6014" cy="402590"/>
            </a:xfrm>
            <a:custGeom>
              <a:avLst/>
              <a:gdLst/>
              <a:ahLst/>
              <a:cxnLst/>
              <a:rect r="r" b="b" t="t" l="l"/>
              <a:pathLst>
                <a:path h="402590" w="366014">
                  <a:moveTo>
                    <a:pt x="0" y="0"/>
                  </a:moveTo>
                  <a:lnTo>
                    <a:pt x="183007" y="0"/>
                  </a:lnTo>
                  <a:lnTo>
                    <a:pt x="366014" y="201295"/>
                  </a:lnTo>
                  <a:lnTo>
                    <a:pt x="183007" y="402590"/>
                  </a:lnTo>
                  <a:lnTo>
                    <a:pt x="0" y="402590"/>
                  </a:lnTo>
                  <a:lnTo>
                    <a:pt x="183007" y="201295"/>
                  </a:lnTo>
                  <a:close/>
                </a:path>
              </a:pathLst>
            </a:custGeom>
            <a:solidFill>
              <a:srgbClr val="42665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408909" y="3122066"/>
            <a:ext cx="2376249" cy="2897867"/>
            <a:chOff x="0" y="0"/>
            <a:chExt cx="3168332" cy="386382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68269" cy="3863848"/>
            </a:xfrm>
            <a:custGeom>
              <a:avLst/>
              <a:gdLst/>
              <a:ahLst/>
              <a:cxnLst/>
              <a:rect r="r" b="b" t="t" l="l"/>
              <a:pathLst>
                <a:path h="3863848" w="3168269">
                  <a:moveTo>
                    <a:pt x="0" y="528066"/>
                  </a:moveTo>
                  <a:cubicBezTo>
                    <a:pt x="0" y="236474"/>
                    <a:pt x="236474" y="0"/>
                    <a:pt x="528066" y="0"/>
                  </a:cubicBezTo>
                  <a:lnTo>
                    <a:pt x="2640203" y="0"/>
                  </a:lnTo>
                  <a:cubicBezTo>
                    <a:pt x="2931795" y="0"/>
                    <a:pt x="3168269" y="236474"/>
                    <a:pt x="3168269" y="528066"/>
                  </a:cubicBezTo>
                  <a:lnTo>
                    <a:pt x="3168269" y="3335782"/>
                  </a:lnTo>
                  <a:cubicBezTo>
                    <a:pt x="3168269" y="3627374"/>
                    <a:pt x="2931795" y="3863848"/>
                    <a:pt x="2640203" y="3863848"/>
                  </a:cubicBezTo>
                  <a:lnTo>
                    <a:pt x="528066" y="3863848"/>
                  </a:lnTo>
                  <a:cubicBezTo>
                    <a:pt x="236474" y="3863848"/>
                    <a:pt x="0" y="3627374"/>
                    <a:pt x="0" y="333578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601076" y="3396605"/>
            <a:ext cx="729044" cy="674132"/>
            <a:chOff x="0" y="0"/>
            <a:chExt cx="972058" cy="89884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2058" cy="898906"/>
            </a:xfrm>
            <a:custGeom>
              <a:avLst/>
              <a:gdLst/>
              <a:ahLst/>
              <a:cxnLst/>
              <a:rect r="r" b="b" t="t" l="l"/>
              <a:pathLst>
                <a:path h="898906" w="972058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822198" y="0"/>
                  </a:lnTo>
                  <a:cubicBezTo>
                    <a:pt x="904875" y="0"/>
                    <a:pt x="972058" y="67056"/>
                    <a:pt x="972058" y="149860"/>
                  </a:cubicBezTo>
                  <a:lnTo>
                    <a:pt x="972058" y="749046"/>
                  </a:lnTo>
                  <a:cubicBezTo>
                    <a:pt x="972058" y="831723"/>
                    <a:pt x="905002" y="898906"/>
                    <a:pt x="822198" y="898906"/>
                  </a:cubicBezTo>
                  <a:lnTo>
                    <a:pt x="149860" y="898906"/>
                  </a:lnTo>
                  <a:cubicBezTo>
                    <a:pt x="67056" y="898906"/>
                    <a:pt x="0" y="831723"/>
                    <a:pt x="0" y="749046"/>
                  </a:cubicBezTo>
                  <a:close/>
                </a:path>
              </a:pathLst>
            </a:custGeom>
            <a:solidFill>
              <a:srgbClr val="DCE9DD"/>
            </a:solidFill>
            <a:ln w="15252" cap="sq">
              <a:solidFill>
                <a:srgbClr val="DCE9DD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9645282" y="3619252"/>
            <a:ext cx="640642" cy="173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672733" y="4319311"/>
            <a:ext cx="1848593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ANALYSE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659007" y="4813478"/>
            <a:ext cx="1876044" cy="668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CEEMDAN + IMF</a:t>
            </a:r>
          </a:p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selection</a:t>
            </a:r>
          </a:p>
        </p:txBody>
      </p:sp>
      <p:sp>
        <p:nvSpPr>
          <p:cNvPr name="AutoShape 45" id="45"/>
          <p:cNvSpPr/>
          <p:nvPr/>
        </p:nvSpPr>
        <p:spPr>
          <a:xfrm rot="309420">
            <a:off x="11785063" y="4561475"/>
            <a:ext cx="424196" cy="0"/>
          </a:xfrm>
          <a:prstGeom prst="line">
            <a:avLst/>
          </a:prstGeom>
          <a:ln cap="rnd" w="19050">
            <a:solidFill>
              <a:srgbClr val="42665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12038333" y="4420010"/>
            <a:ext cx="274539" cy="301990"/>
            <a:chOff x="0" y="0"/>
            <a:chExt cx="366052" cy="40265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6014" cy="402590"/>
            </a:xfrm>
            <a:custGeom>
              <a:avLst/>
              <a:gdLst/>
              <a:ahLst/>
              <a:cxnLst/>
              <a:rect r="r" b="b" t="t" l="l"/>
              <a:pathLst>
                <a:path h="402590" w="366014">
                  <a:moveTo>
                    <a:pt x="0" y="0"/>
                  </a:moveTo>
                  <a:lnTo>
                    <a:pt x="183007" y="0"/>
                  </a:lnTo>
                  <a:lnTo>
                    <a:pt x="366014" y="201295"/>
                  </a:lnTo>
                  <a:lnTo>
                    <a:pt x="183007" y="402590"/>
                  </a:lnTo>
                  <a:lnTo>
                    <a:pt x="0" y="402590"/>
                  </a:lnTo>
                  <a:lnTo>
                    <a:pt x="183007" y="201295"/>
                  </a:lnTo>
                  <a:close/>
                </a:path>
              </a:pathLst>
            </a:custGeom>
            <a:solidFill>
              <a:srgbClr val="426653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264066" y="3122066"/>
            <a:ext cx="2376249" cy="2897867"/>
            <a:chOff x="0" y="0"/>
            <a:chExt cx="3168332" cy="386382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68269" cy="3863848"/>
            </a:xfrm>
            <a:custGeom>
              <a:avLst/>
              <a:gdLst/>
              <a:ahLst/>
              <a:cxnLst/>
              <a:rect r="r" b="b" t="t" l="l"/>
              <a:pathLst>
                <a:path h="3863848" w="3168269">
                  <a:moveTo>
                    <a:pt x="0" y="528066"/>
                  </a:moveTo>
                  <a:cubicBezTo>
                    <a:pt x="0" y="236474"/>
                    <a:pt x="236474" y="0"/>
                    <a:pt x="528066" y="0"/>
                  </a:cubicBezTo>
                  <a:lnTo>
                    <a:pt x="2640203" y="0"/>
                  </a:lnTo>
                  <a:cubicBezTo>
                    <a:pt x="2931795" y="0"/>
                    <a:pt x="3168269" y="236474"/>
                    <a:pt x="3168269" y="528066"/>
                  </a:cubicBezTo>
                  <a:lnTo>
                    <a:pt x="3168269" y="3335782"/>
                  </a:lnTo>
                  <a:cubicBezTo>
                    <a:pt x="3168269" y="3627374"/>
                    <a:pt x="2931795" y="3863848"/>
                    <a:pt x="2640203" y="3863848"/>
                  </a:cubicBezTo>
                  <a:lnTo>
                    <a:pt x="528066" y="3863848"/>
                  </a:lnTo>
                  <a:cubicBezTo>
                    <a:pt x="236474" y="3863848"/>
                    <a:pt x="0" y="3627374"/>
                    <a:pt x="0" y="333578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2456243" y="3396605"/>
            <a:ext cx="729044" cy="674132"/>
            <a:chOff x="0" y="0"/>
            <a:chExt cx="972058" cy="89884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72058" cy="898906"/>
            </a:xfrm>
            <a:custGeom>
              <a:avLst/>
              <a:gdLst/>
              <a:ahLst/>
              <a:cxnLst/>
              <a:rect r="r" b="b" t="t" l="l"/>
              <a:pathLst>
                <a:path h="898906" w="972058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822198" y="0"/>
                  </a:lnTo>
                  <a:cubicBezTo>
                    <a:pt x="904875" y="0"/>
                    <a:pt x="972058" y="67056"/>
                    <a:pt x="972058" y="149860"/>
                  </a:cubicBezTo>
                  <a:lnTo>
                    <a:pt x="972058" y="749046"/>
                  </a:lnTo>
                  <a:cubicBezTo>
                    <a:pt x="972058" y="831723"/>
                    <a:pt x="905002" y="898906"/>
                    <a:pt x="822198" y="898906"/>
                  </a:cubicBezTo>
                  <a:lnTo>
                    <a:pt x="149860" y="898906"/>
                  </a:lnTo>
                  <a:cubicBezTo>
                    <a:pt x="67056" y="898906"/>
                    <a:pt x="0" y="831723"/>
                    <a:pt x="0" y="749046"/>
                  </a:cubicBezTo>
                  <a:close/>
                </a:path>
              </a:pathLst>
            </a:custGeom>
            <a:solidFill>
              <a:srgbClr val="E3ECF8"/>
            </a:solidFill>
            <a:ln w="15252" cap="sq">
              <a:solidFill>
                <a:srgbClr val="E3ECF8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12500439" y="3619252"/>
            <a:ext cx="640642" cy="173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527899" y="4319311"/>
            <a:ext cx="1848593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MODEL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514164" y="4813478"/>
            <a:ext cx="1876044" cy="668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Features +</a:t>
            </a:r>
          </a:p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LightGBM</a:t>
            </a:r>
          </a:p>
        </p:txBody>
      </p:sp>
      <p:sp>
        <p:nvSpPr>
          <p:cNvPr name="AutoShape 55" id="55"/>
          <p:cNvSpPr/>
          <p:nvPr/>
        </p:nvSpPr>
        <p:spPr>
          <a:xfrm rot="309420">
            <a:off x="14640220" y="4561475"/>
            <a:ext cx="424196" cy="0"/>
          </a:xfrm>
          <a:prstGeom prst="line">
            <a:avLst/>
          </a:prstGeom>
          <a:ln cap="rnd" w="19050">
            <a:solidFill>
              <a:srgbClr val="42665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14893500" y="4420010"/>
            <a:ext cx="274539" cy="301990"/>
            <a:chOff x="0" y="0"/>
            <a:chExt cx="366052" cy="40265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6014" cy="402590"/>
            </a:xfrm>
            <a:custGeom>
              <a:avLst/>
              <a:gdLst/>
              <a:ahLst/>
              <a:cxnLst/>
              <a:rect r="r" b="b" t="t" l="l"/>
              <a:pathLst>
                <a:path h="402590" w="366014">
                  <a:moveTo>
                    <a:pt x="0" y="0"/>
                  </a:moveTo>
                  <a:lnTo>
                    <a:pt x="183007" y="0"/>
                  </a:lnTo>
                  <a:lnTo>
                    <a:pt x="366014" y="201295"/>
                  </a:lnTo>
                  <a:lnTo>
                    <a:pt x="183007" y="402590"/>
                  </a:lnTo>
                  <a:lnTo>
                    <a:pt x="0" y="402590"/>
                  </a:lnTo>
                  <a:lnTo>
                    <a:pt x="183007" y="201295"/>
                  </a:lnTo>
                  <a:close/>
                </a:path>
              </a:pathLst>
            </a:custGeom>
            <a:solidFill>
              <a:srgbClr val="426653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5119223" y="3122066"/>
            <a:ext cx="2376249" cy="2897867"/>
            <a:chOff x="0" y="0"/>
            <a:chExt cx="3168332" cy="386382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168269" cy="3863848"/>
            </a:xfrm>
            <a:custGeom>
              <a:avLst/>
              <a:gdLst/>
              <a:ahLst/>
              <a:cxnLst/>
              <a:rect r="r" b="b" t="t" l="l"/>
              <a:pathLst>
                <a:path h="3863848" w="3168269">
                  <a:moveTo>
                    <a:pt x="0" y="528066"/>
                  </a:moveTo>
                  <a:cubicBezTo>
                    <a:pt x="0" y="236474"/>
                    <a:pt x="236474" y="0"/>
                    <a:pt x="528066" y="0"/>
                  </a:cubicBezTo>
                  <a:lnTo>
                    <a:pt x="2640203" y="0"/>
                  </a:lnTo>
                  <a:cubicBezTo>
                    <a:pt x="2931795" y="0"/>
                    <a:pt x="3168269" y="236474"/>
                    <a:pt x="3168269" y="528066"/>
                  </a:cubicBezTo>
                  <a:lnTo>
                    <a:pt x="3168269" y="3335782"/>
                  </a:lnTo>
                  <a:cubicBezTo>
                    <a:pt x="3168269" y="3627374"/>
                    <a:pt x="2931795" y="3863848"/>
                    <a:pt x="2640203" y="3863848"/>
                  </a:cubicBezTo>
                  <a:lnTo>
                    <a:pt x="528066" y="3863848"/>
                  </a:lnTo>
                  <a:cubicBezTo>
                    <a:pt x="236474" y="3863848"/>
                    <a:pt x="0" y="3627374"/>
                    <a:pt x="0" y="333578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5311399" y="3396605"/>
            <a:ext cx="729044" cy="674132"/>
            <a:chOff x="0" y="0"/>
            <a:chExt cx="972058" cy="89884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72058" cy="898906"/>
            </a:xfrm>
            <a:custGeom>
              <a:avLst/>
              <a:gdLst/>
              <a:ahLst/>
              <a:cxnLst/>
              <a:rect r="r" b="b" t="t" l="l"/>
              <a:pathLst>
                <a:path h="898906" w="972058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822198" y="0"/>
                  </a:lnTo>
                  <a:cubicBezTo>
                    <a:pt x="904875" y="0"/>
                    <a:pt x="972058" y="67056"/>
                    <a:pt x="972058" y="149860"/>
                  </a:cubicBezTo>
                  <a:lnTo>
                    <a:pt x="972058" y="749046"/>
                  </a:lnTo>
                  <a:cubicBezTo>
                    <a:pt x="972058" y="831723"/>
                    <a:pt x="905002" y="898906"/>
                    <a:pt x="822198" y="898906"/>
                  </a:cubicBezTo>
                  <a:lnTo>
                    <a:pt x="149860" y="898906"/>
                  </a:lnTo>
                  <a:cubicBezTo>
                    <a:pt x="67056" y="898906"/>
                    <a:pt x="0" y="831723"/>
                    <a:pt x="0" y="749046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62" id="62"/>
          <p:cNvSpPr txBox="true"/>
          <p:nvPr/>
        </p:nvSpPr>
        <p:spPr>
          <a:xfrm rot="0">
            <a:off x="15355595" y="3619252"/>
            <a:ext cx="640642" cy="173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383056" y="4319311"/>
            <a:ext cx="1848593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INTERPRET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5369330" y="4813478"/>
            <a:ext cx="1876044" cy="668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Metrics + SHAP</a:t>
            </a:r>
          </a:p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advisory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843429" y="6691017"/>
            <a:ext cx="16555955" cy="1387926"/>
            <a:chOff x="0" y="0"/>
            <a:chExt cx="22074607" cy="185056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074632" cy="1850644"/>
            </a:xfrm>
            <a:custGeom>
              <a:avLst/>
              <a:gdLst/>
              <a:ahLst/>
              <a:cxnLst/>
              <a:rect r="r" b="b" t="t" l="l"/>
              <a:pathLst>
                <a:path h="1850644" w="22074632">
                  <a:moveTo>
                    <a:pt x="0" y="308483"/>
                  </a:moveTo>
                  <a:cubicBezTo>
                    <a:pt x="0" y="138049"/>
                    <a:pt x="138049" y="0"/>
                    <a:pt x="308483" y="0"/>
                  </a:cubicBezTo>
                  <a:lnTo>
                    <a:pt x="21766149" y="0"/>
                  </a:lnTo>
                  <a:cubicBezTo>
                    <a:pt x="21936456" y="0"/>
                    <a:pt x="22074632" y="138049"/>
                    <a:pt x="22074632" y="308483"/>
                  </a:cubicBezTo>
                  <a:lnTo>
                    <a:pt x="22074632" y="1542161"/>
                  </a:lnTo>
                  <a:cubicBezTo>
                    <a:pt x="22074632" y="1712468"/>
                    <a:pt x="21936583" y="1850644"/>
                    <a:pt x="21766149" y="1850644"/>
                  </a:cubicBezTo>
                  <a:lnTo>
                    <a:pt x="308483" y="1850644"/>
                  </a:lnTo>
                  <a:cubicBezTo>
                    <a:pt x="138049" y="1850517"/>
                    <a:pt x="0" y="1712468"/>
                    <a:pt x="0" y="1542161"/>
                  </a:cubicBezTo>
                  <a:close/>
                </a:path>
              </a:pathLst>
            </a:custGeom>
            <a:solidFill>
              <a:srgbClr val="E3ECF8"/>
            </a:solidFill>
            <a:ln w="15252" cap="sq">
              <a:solidFill>
                <a:srgbClr val="E3ECF8"/>
              </a:solidFill>
              <a:prstDash val="solid"/>
              <a:miter/>
            </a:ln>
          </p:spPr>
        </p:sp>
      </p:grpSp>
      <p:sp>
        <p:nvSpPr>
          <p:cNvPr name="TextBox 67" id="67"/>
          <p:cNvSpPr txBox="true"/>
          <p:nvPr/>
        </p:nvSpPr>
        <p:spPr>
          <a:xfrm rot="0">
            <a:off x="1271978" y="7078389"/>
            <a:ext cx="1299524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56B97"/>
                </a:solidFill>
                <a:latin typeface="Aptos Bold"/>
                <a:ea typeface="Aptos Bold"/>
                <a:cs typeface="Aptos Bold"/>
                <a:sym typeface="Aptos Bold"/>
              </a:rPr>
              <a:t>TARGET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850556" y="6968576"/>
            <a:ext cx="13379034" cy="54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Predict soil moisture (%) 24 hours ahead from current soil and environmental time-series features.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843429" y="8393125"/>
            <a:ext cx="16555955" cy="674132"/>
            <a:chOff x="0" y="0"/>
            <a:chExt cx="22074607" cy="89884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2074632" cy="898906"/>
            </a:xfrm>
            <a:custGeom>
              <a:avLst/>
              <a:gdLst/>
              <a:ahLst/>
              <a:cxnLst/>
              <a:rect r="r" b="b" t="t" l="l"/>
              <a:pathLst>
                <a:path h="898906" w="22074632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21924772" y="0"/>
                  </a:lnTo>
                  <a:cubicBezTo>
                    <a:pt x="22007449" y="0"/>
                    <a:pt x="22074632" y="67056"/>
                    <a:pt x="22074632" y="149860"/>
                  </a:cubicBezTo>
                  <a:lnTo>
                    <a:pt x="22074632" y="749046"/>
                  </a:lnTo>
                  <a:cubicBezTo>
                    <a:pt x="22074632" y="831723"/>
                    <a:pt x="22007576" y="898906"/>
                    <a:pt x="21924772" y="898906"/>
                  </a:cubicBezTo>
                  <a:lnTo>
                    <a:pt x="149860" y="898906"/>
                  </a:lnTo>
                  <a:cubicBezTo>
                    <a:pt x="67056" y="898906"/>
                    <a:pt x="0" y="831723"/>
                    <a:pt x="0" y="749046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71" id="71"/>
          <p:cNvSpPr txBox="true"/>
          <p:nvPr/>
        </p:nvSpPr>
        <p:spPr>
          <a:xfrm rot="0">
            <a:off x="1162164" y="8578796"/>
            <a:ext cx="1368152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TAKEAWAY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617203" y="8547144"/>
            <a:ext cx="14408544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Each stage is evaluated; a more complex pipeline is useful only if the evidence supports it.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887635" y="9919821"/>
            <a:ext cx="11594563" cy="1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SIGNAL PROCESSING  •  FINAL PROJECT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6714546" y="9869110"/>
            <a:ext cx="5857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8510" y="1743294"/>
            <a:ext cx="1029500" cy="75495"/>
            <a:chOff x="0" y="0"/>
            <a:chExt cx="1372667" cy="100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2616" cy="100711"/>
            </a:xfrm>
            <a:custGeom>
              <a:avLst/>
              <a:gdLst/>
              <a:ahLst/>
              <a:cxnLst/>
              <a:rect r="r" b="b" t="t" l="l"/>
              <a:pathLst>
                <a:path h="100711" w="1372616">
                  <a:moveTo>
                    <a:pt x="0" y="0"/>
                  </a:moveTo>
                  <a:lnTo>
                    <a:pt x="1372616" y="0"/>
                  </a:lnTo>
                  <a:lnTo>
                    <a:pt x="1372616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42665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3243" y="2531821"/>
            <a:ext cx="3515563" cy="1607553"/>
            <a:chOff x="0" y="0"/>
            <a:chExt cx="4687418" cy="21434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87443" cy="2143379"/>
            </a:xfrm>
            <a:custGeom>
              <a:avLst/>
              <a:gdLst/>
              <a:ahLst/>
              <a:cxnLst/>
              <a:rect r="r" b="b" t="t" l="l"/>
              <a:pathLst>
                <a:path h="2143379" w="4687443">
                  <a:moveTo>
                    <a:pt x="0" y="357251"/>
                  </a:moveTo>
                  <a:cubicBezTo>
                    <a:pt x="0" y="159893"/>
                    <a:pt x="159893" y="0"/>
                    <a:pt x="357251" y="0"/>
                  </a:cubicBezTo>
                  <a:lnTo>
                    <a:pt x="4330192" y="0"/>
                  </a:lnTo>
                  <a:cubicBezTo>
                    <a:pt x="4527550" y="0"/>
                    <a:pt x="4687443" y="159893"/>
                    <a:pt x="4687443" y="357251"/>
                  </a:cubicBezTo>
                  <a:lnTo>
                    <a:pt x="4687443" y="1786128"/>
                  </a:lnTo>
                  <a:cubicBezTo>
                    <a:pt x="4687443" y="1983486"/>
                    <a:pt x="4527550" y="2143379"/>
                    <a:pt x="4330192" y="2143379"/>
                  </a:cubicBezTo>
                  <a:lnTo>
                    <a:pt x="357251" y="2143379"/>
                  </a:lnTo>
                  <a:cubicBezTo>
                    <a:pt x="159893" y="2143379"/>
                    <a:pt x="0" y="1983486"/>
                    <a:pt x="0" y="178612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53243" y="2531821"/>
            <a:ext cx="152524" cy="1607553"/>
            <a:chOff x="0" y="0"/>
            <a:chExt cx="203365" cy="21434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327" cy="2143379"/>
            </a:xfrm>
            <a:custGeom>
              <a:avLst/>
              <a:gdLst/>
              <a:ahLst/>
              <a:cxnLst/>
              <a:rect r="r" b="b" t="t" l="l"/>
              <a:pathLst>
                <a:path h="2143379" w="203327">
                  <a:moveTo>
                    <a:pt x="0" y="0"/>
                  </a:moveTo>
                  <a:lnTo>
                    <a:pt x="203327" y="0"/>
                  </a:lnTo>
                  <a:lnTo>
                    <a:pt x="203327" y="2143379"/>
                  </a:lnTo>
                  <a:lnTo>
                    <a:pt x="0" y="2143379"/>
                  </a:lnTo>
                  <a:close/>
                </a:path>
              </a:pathLst>
            </a:custGeom>
            <a:solidFill>
              <a:srgbClr val="DCE9DD"/>
            </a:solidFill>
            <a:ln w="15252" cap="sq">
              <a:solidFill>
                <a:srgbClr val="DCE9DD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5249713" y="2531821"/>
            <a:ext cx="3515563" cy="1607553"/>
            <a:chOff x="0" y="0"/>
            <a:chExt cx="4687418" cy="21434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87443" cy="2143379"/>
            </a:xfrm>
            <a:custGeom>
              <a:avLst/>
              <a:gdLst/>
              <a:ahLst/>
              <a:cxnLst/>
              <a:rect r="r" b="b" t="t" l="l"/>
              <a:pathLst>
                <a:path h="2143379" w="4687443">
                  <a:moveTo>
                    <a:pt x="0" y="357251"/>
                  </a:moveTo>
                  <a:cubicBezTo>
                    <a:pt x="0" y="159893"/>
                    <a:pt x="159893" y="0"/>
                    <a:pt x="357251" y="0"/>
                  </a:cubicBezTo>
                  <a:lnTo>
                    <a:pt x="4330192" y="0"/>
                  </a:lnTo>
                  <a:cubicBezTo>
                    <a:pt x="4527550" y="0"/>
                    <a:pt x="4687443" y="159893"/>
                    <a:pt x="4687443" y="357251"/>
                  </a:cubicBezTo>
                  <a:lnTo>
                    <a:pt x="4687443" y="1786128"/>
                  </a:lnTo>
                  <a:cubicBezTo>
                    <a:pt x="4687443" y="1983486"/>
                    <a:pt x="4527550" y="2143379"/>
                    <a:pt x="4330192" y="2143379"/>
                  </a:cubicBezTo>
                  <a:lnTo>
                    <a:pt x="357251" y="2143379"/>
                  </a:lnTo>
                  <a:cubicBezTo>
                    <a:pt x="159893" y="2143379"/>
                    <a:pt x="0" y="1983486"/>
                    <a:pt x="0" y="178612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249713" y="2531821"/>
            <a:ext cx="152524" cy="1607553"/>
            <a:chOff x="0" y="0"/>
            <a:chExt cx="203365" cy="21434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327" cy="2143379"/>
            </a:xfrm>
            <a:custGeom>
              <a:avLst/>
              <a:gdLst/>
              <a:ahLst/>
              <a:cxnLst/>
              <a:rect r="r" b="b" t="t" l="l"/>
              <a:pathLst>
                <a:path h="2143379" w="203327">
                  <a:moveTo>
                    <a:pt x="0" y="0"/>
                  </a:moveTo>
                  <a:lnTo>
                    <a:pt x="203327" y="0"/>
                  </a:lnTo>
                  <a:lnTo>
                    <a:pt x="203327" y="2143379"/>
                  </a:lnTo>
                  <a:lnTo>
                    <a:pt x="0" y="2143379"/>
                  </a:lnTo>
                  <a:close/>
                </a:path>
              </a:pathLst>
            </a:custGeom>
            <a:solidFill>
              <a:srgbClr val="E3ECF8"/>
            </a:solidFill>
            <a:ln w="15252" cap="sq">
              <a:solidFill>
                <a:srgbClr val="E3ECF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546174" y="2531821"/>
            <a:ext cx="3515563" cy="1607553"/>
            <a:chOff x="0" y="0"/>
            <a:chExt cx="4687418" cy="21434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87443" cy="2143379"/>
            </a:xfrm>
            <a:custGeom>
              <a:avLst/>
              <a:gdLst/>
              <a:ahLst/>
              <a:cxnLst/>
              <a:rect r="r" b="b" t="t" l="l"/>
              <a:pathLst>
                <a:path h="2143379" w="4687443">
                  <a:moveTo>
                    <a:pt x="0" y="357251"/>
                  </a:moveTo>
                  <a:cubicBezTo>
                    <a:pt x="0" y="159893"/>
                    <a:pt x="159893" y="0"/>
                    <a:pt x="357251" y="0"/>
                  </a:cubicBezTo>
                  <a:lnTo>
                    <a:pt x="4330192" y="0"/>
                  </a:lnTo>
                  <a:cubicBezTo>
                    <a:pt x="4527550" y="0"/>
                    <a:pt x="4687443" y="159893"/>
                    <a:pt x="4687443" y="357251"/>
                  </a:cubicBezTo>
                  <a:lnTo>
                    <a:pt x="4687443" y="1786128"/>
                  </a:lnTo>
                  <a:cubicBezTo>
                    <a:pt x="4687443" y="1983486"/>
                    <a:pt x="4527550" y="2143379"/>
                    <a:pt x="4330192" y="2143379"/>
                  </a:cubicBezTo>
                  <a:lnTo>
                    <a:pt x="357251" y="2143379"/>
                  </a:lnTo>
                  <a:cubicBezTo>
                    <a:pt x="159893" y="2143379"/>
                    <a:pt x="0" y="1983486"/>
                    <a:pt x="0" y="178612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546174" y="2531821"/>
            <a:ext cx="152524" cy="1607553"/>
            <a:chOff x="0" y="0"/>
            <a:chExt cx="203365" cy="21434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3327" cy="2143379"/>
            </a:xfrm>
            <a:custGeom>
              <a:avLst/>
              <a:gdLst/>
              <a:ahLst/>
              <a:cxnLst/>
              <a:rect r="r" b="b" t="t" l="l"/>
              <a:pathLst>
                <a:path h="2143379" w="203327">
                  <a:moveTo>
                    <a:pt x="0" y="0"/>
                  </a:moveTo>
                  <a:lnTo>
                    <a:pt x="203327" y="0"/>
                  </a:lnTo>
                  <a:lnTo>
                    <a:pt x="203327" y="2143379"/>
                  </a:lnTo>
                  <a:lnTo>
                    <a:pt x="0" y="2143379"/>
                  </a:ln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842635" y="2531821"/>
            <a:ext cx="3515563" cy="1607553"/>
            <a:chOff x="0" y="0"/>
            <a:chExt cx="4687418" cy="21434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87443" cy="2143379"/>
            </a:xfrm>
            <a:custGeom>
              <a:avLst/>
              <a:gdLst/>
              <a:ahLst/>
              <a:cxnLst/>
              <a:rect r="r" b="b" t="t" l="l"/>
              <a:pathLst>
                <a:path h="2143379" w="4687443">
                  <a:moveTo>
                    <a:pt x="0" y="357251"/>
                  </a:moveTo>
                  <a:cubicBezTo>
                    <a:pt x="0" y="159893"/>
                    <a:pt x="159893" y="0"/>
                    <a:pt x="357251" y="0"/>
                  </a:cubicBezTo>
                  <a:lnTo>
                    <a:pt x="4330192" y="0"/>
                  </a:lnTo>
                  <a:cubicBezTo>
                    <a:pt x="4527550" y="0"/>
                    <a:pt x="4687443" y="159893"/>
                    <a:pt x="4687443" y="357251"/>
                  </a:cubicBezTo>
                  <a:lnTo>
                    <a:pt x="4687443" y="1786128"/>
                  </a:lnTo>
                  <a:cubicBezTo>
                    <a:pt x="4687443" y="1983486"/>
                    <a:pt x="4527550" y="2143379"/>
                    <a:pt x="4330192" y="2143379"/>
                  </a:cubicBezTo>
                  <a:lnTo>
                    <a:pt x="357251" y="2143379"/>
                  </a:lnTo>
                  <a:cubicBezTo>
                    <a:pt x="159893" y="2143379"/>
                    <a:pt x="0" y="1983486"/>
                    <a:pt x="0" y="178612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3842635" y="2531821"/>
            <a:ext cx="152524" cy="1607553"/>
            <a:chOff x="0" y="0"/>
            <a:chExt cx="203365" cy="21434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3327" cy="2143379"/>
            </a:xfrm>
            <a:custGeom>
              <a:avLst/>
              <a:gdLst/>
              <a:ahLst/>
              <a:cxnLst/>
              <a:rect r="r" b="b" t="t" l="l"/>
              <a:pathLst>
                <a:path h="2143379" w="203327">
                  <a:moveTo>
                    <a:pt x="0" y="0"/>
                  </a:moveTo>
                  <a:lnTo>
                    <a:pt x="203327" y="0"/>
                  </a:lnTo>
                  <a:lnTo>
                    <a:pt x="203327" y="2143379"/>
                  </a:lnTo>
                  <a:lnTo>
                    <a:pt x="0" y="2143379"/>
                  </a:lnTo>
                  <a:close/>
                </a:path>
              </a:pathLst>
            </a:custGeom>
            <a:solidFill>
              <a:srgbClr val="F0F2EB"/>
            </a:solidFill>
            <a:ln w="15252" cap="sq">
              <a:solidFill>
                <a:srgbClr val="F0F2E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53243" y="5551694"/>
            <a:ext cx="3515563" cy="1607553"/>
            <a:chOff x="0" y="0"/>
            <a:chExt cx="4687418" cy="21434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87443" cy="2143379"/>
            </a:xfrm>
            <a:custGeom>
              <a:avLst/>
              <a:gdLst/>
              <a:ahLst/>
              <a:cxnLst/>
              <a:rect r="r" b="b" t="t" l="l"/>
              <a:pathLst>
                <a:path h="2143379" w="4687443">
                  <a:moveTo>
                    <a:pt x="0" y="357251"/>
                  </a:moveTo>
                  <a:cubicBezTo>
                    <a:pt x="0" y="159893"/>
                    <a:pt x="159893" y="0"/>
                    <a:pt x="357251" y="0"/>
                  </a:cubicBezTo>
                  <a:lnTo>
                    <a:pt x="4330192" y="0"/>
                  </a:lnTo>
                  <a:cubicBezTo>
                    <a:pt x="4527550" y="0"/>
                    <a:pt x="4687443" y="159893"/>
                    <a:pt x="4687443" y="357251"/>
                  </a:cubicBezTo>
                  <a:lnTo>
                    <a:pt x="4687443" y="1786128"/>
                  </a:lnTo>
                  <a:cubicBezTo>
                    <a:pt x="4687443" y="1983486"/>
                    <a:pt x="4527550" y="2143379"/>
                    <a:pt x="4330192" y="2143379"/>
                  </a:cubicBezTo>
                  <a:lnTo>
                    <a:pt x="357251" y="2143379"/>
                  </a:lnTo>
                  <a:cubicBezTo>
                    <a:pt x="159893" y="2143379"/>
                    <a:pt x="0" y="1983486"/>
                    <a:pt x="0" y="178612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53243" y="5551694"/>
            <a:ext cx="152524" cy="1607553"/>
            <a:chOff x="0" y="0"/>
            <a:chExt cx="203365" cy="21434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327" cy="2143379"/>
            </a:xfrm>
            <a:custGeom>
              <a:avLst/>
              <a:gdLst/>
              <a:ahLst/>
              <a:cxnLst/>
              <a:rect r="r" b="b" t="t" l="l"/>
              <a:pathLst>
                <a:path h="2143379" w="203327">
                  <a:moveTo>
                    <a:pt x="0" y="0"/>
                  </a:moveTo>
                  <a:lnTo>
                    <a:pt x="203327" y="0"/>
                  </a:lnTo>
                  <a:lnTo>
                    <a:pt x="203327" y="2143379"/>
                  </a:lnTo>
                  <a:lnTo>
                    <a:pt x="0" y="2143379"/>
                  </a:lnTo>
                  <a:close/>
                </a:path>
              </a:pathLst>
            </a:custGeom>
            <a:solidFill>
              <a:srgbClr val="E3ECF8"/>
            </a:solidFill>
            <a:ln w="15252" cap="sq">
              <a:solidFill>
                <a:srgbClr val="E3ECF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249713" y="5551694"/>
            <a:ext cx="3515563" cy="1607553"/>
            <a:chOff x="0" y="0"/>
            <a:chExt cx="4687418" cy="21434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87443" cy="2143379"/>
            </a:xfrm>
            <a:custGeom>
              <a:avLst/>
              <a:gdLst/>
              <a:ahLst/>
              <a:cxnLst/>
              <a:rect r="r" b="b" t="t" l="l"/>
              <a:pathLst>
                <a:path h="2143379" w="4687443">
                  <a:moveTo>
                    <a:pt x="0" y="357251"/>
                  </a:moveTo>
                  <a:cubicBezTo>
                    <a:pt x="0" y="159893"/>
                    <a:pt x="159893" y="0"/>
                    <a:pt x="357251" y="0"/>
                  </a:cubicBezTo>
                  <a:lnTo>
                    <a:pt x="4330192" y="0"/>
                  </a:lnTo>
                  <a:cubicBezTo>
                    <a:pt x="4527550" y="0"/>
                    <a:pt x="4687443" y="159893"/>
                    <a:pt x="4687443" y="357251"/>
                  </a:cubicBezTo>
                  <a:lnTo>
                    <a:pt x="4687443" y="1786128"/>
                  </a:lnTo>
                  <a:cubicBezTo>
                    <a:pt x="4687443" y="1983486"/>
                    <a:pt x="4527550" y="2143379"/>
                    <a:pt x="4330192" y="2143379"/>
                  </a:cubicBezTo>
                  <a:lnTo>
                    <a:pt x="357251" y="2143379"/>
                  </a:lnTo>
                  <a:cubicBezTo>
                    <a:pt x="159893" y="2143379"/>
                    <a:pt x="0" y="1983486"/>
                    <a:pt x="0" y="178612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249713" y="5551694"/>
            <a:ext cx="152524" cy="1607553"/>
            <a:chOff x="0" y="0"/>
            <a:chExt cx="203365" cy="21434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3327" cy="2143379"/>
            </a:xfrm>
            <a:custGeom>
              <a:avLst/>
              <a:gdLst/>
              <a:ahLst/>
              <a:cxnLst/>
              <a:rect r="r" b="b" t="t" l="l"/>
              <a:pathLst>
                <a:path h="2143379" w="203327">
                  <a:moveTo>
                    <a:pt x="0" y="0"/>
                  </a:moveTo>
                  <a:lnTo>
                    <a:pt x="203327" y="0"/>
                  </a:lnTo>
                  <a:lnTo>
                    <a:pt x="203327" y="2143379"/>
                  </a:lnTo>
                  <a:lnTo>
                    <a:pt x="0" y="2143379"/>
                  </a:ln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546174" y="5551694"/>
            <a:ext cx="3515563" cy="1607553"/>
            <a:chOff x="0" y="0"/>
            <a:chExt cx="4687418" cy="21434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687443" cy="2143379"/>
            </a:xfrm>
            <a:custGeom>
              <a:avLst/>
              <a:gdLst/>
              <a:ahLst/>
              <a:cxnLst/>
              <a:rect r="r" b="b" t="t" l="l"/>
              <a:pathLst>
                <a:path h="2143379" w="4687443">
                  <a:moveTo>
                    <a:pt x="0" y="357251"/>
                  </a:moveTo>
                  <a:cubicBezTo>
                    <a:pt x="0" y="159893"/>
                    <a:pt x="159893" y="0"/>
                    <a:pt x="357251" y="0"/>
                  </a:cubicBezTo>
                  <a:lnTo>
                    <a:pt x="4330192" y="0"/>
                  </a:lnTo>
                  <a:cubicBezTo>
                    <a:pt x="4527550" y="0"/>
                    <a:pt x="4687443" y="159893"/>
                    <a:pt x="4687443" y="357251"/>
                  </a:cubicBezTo>
                  <a:lnTo>
                    <a:pt x="4687443" y="1786128"/>
                  </a:lnTo>
                  <a:cubicBezTo>
                    <a:pt x="4687443" y="1983486"/>
                    <a:pt x="4527550" y="2143379"/>
                    <a:pt x="4330192" y="2143379"/>
                  </a:cubicBezTo>
                  <a:lnTo>
                    <a:pt x="357251" y="2143379"/>
                  </a:lnTo>
                  <a:cubicBezTo>
                    <a:pt x="159893" y="2143379"/>
                    <a:pt x="0" y="1983486"/>
                    <a:pt x="0" y="178612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546174" y="5551694"/>
            <a:ext cx="152524" cy="1607553"/>
            <a:chOff x="0" y="0"/>
            <a:chExt cx="203365" cy="21434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3327" cy="2143379"/>
            </a:xfrm>
            <a:custGeom>
              <a:avLst/>
              <a:gdLst/>
              <a:ahLst/>
              <a:cxnLst/>
              <a:rect r="r" b="b" t="t" l="l"/>
              <a:pathLst>
                <a:path h="2143379" w="203327">
                  <a:moveTo>
                    <a:pt x="0" y="0"/>
                  </a:moveTo>
                  <a:lnTo>
                    <a:pt x="203327" y="0"/>
                  </a:lnTo>
                  <a:lnTo>
                    <a:pt x="203327" y="2143379"/>
                  </a:lnTo>
                  <a:lnTo>
                    <a:pt x="0" y="2143379"/>
                  </a:lnTo>
                  <a:close/>
                </a:path>
              </a:pathLst>
            </a:custGeom>
            <a:solidFill>
              <a:srgbClr val="F0F2EB"/>
            </a:solidFill>
            <a:ln w="15252" cap="sq">
              <a:solidFill>
                <a:srgbClr val="F0F2E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842635" y="5551694"/>
            <a:ext cx="3515563" cy="1607553"/>
            <a:chOff x="0" y="0"/>
            <a:chExt cx="4687418" cy="21434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87443" cy="2143379"/>
            </a:xfrm>
            <a:custGeom>
              <a:avLst/>
              <a:gdLst/>
              <a:ahLst/>
              <a:cxnLst/>
              <a:rect r="r" b="b" t="t" l="l"/>
              <a:pathLst>
                <a:path h="2143379" w="4687443">
                  <a:moveTo>
                    <a:pt x="0" y="357251"/>
                  </a:moveTo>
                  <a:cubicBezTo>
                    <a:pt x="0" y="159893"/>
                    <a:pt x="159893" y="0"/>
                    <a:pt x="357251" y="0"/>
                  </a:cubicBezTo>
                  <a:lnTo>
                    <a:pt x="4330192" y="0"/>
                  </a:lnTo>
                  <a:cubicBezTo>
                    <a:pt x="4527550" y="0"/>
                    <a:pt x="4687443" y="159893"/>
                    <a:pt x="4687443" y="357251"/>
                  </a:cubicBezTo>
                  <a:lnTo>
                    <a:pt x="4687443" y="1786128"/>
                  </a:lnTo>
                  <a:cubicBezTo>
                    <a:pt x="4687443" y="1983486"/>
                    <a:pt x="4527550" y="2143379"/>
                    <a:pt x="4330192" y="2143379"/>
                  </a:cubicBezTo>
                  <a:lnTo>
                    <a:pt x="357251" y="2143379"/>
                  </a:lnTo>
                  <a:cubicBezTo>
                    <a:pt x="159893" y="2143379"/>
                    <a:pt x="0" y="1983486"/>
                    <a:pt x="0" y="178612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842635" y="5551694"/>
            <a:ext cx="152524" cy="1607553"/>
            <a:chOff x="0" y="0"/>
            <a:chExt cx="203365" cy="214340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3327" cy="2143379"/>
            </a:xfrm>
            <a:custGeom>
              <a:avLst/>
              <a:gdLst/>
              <a:ahLst/>
              <a:cxnLst/>
              <a:rect r="r" b="b" t="t" l="l"/>
              <a:pathLst>
                <a:path h="2143379" w="203327">
                  <a:moveTo>
                    <a:pt x="0" y="0"/>
                  </a:moveTo>
                  <a:lnTo>
                    <a:pt x="203327" y="0"/>
                  </a:lnTo>
                  <a:lnTo>
                    <a:pt x="203327" y="2143379"/>
                  </a:lnTo>
                  <a:lnTo>
                    <a:pt x="0" y="2143379"/>
                  </a:lnTo>
                  <a:close/>
                </a:path>
              </a:pathLst>
            </a:custGeom>
            <a:solidFill>
              <a:srgbClr val="DCE9DD"/>
            </a:solidFill>
            <a:ln w="15252" cap="sq">
              <a:solidFill>
                <a:srgbClr val="DCE9DD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53243" y="8708841"/>
            <a:ext cx="16459867" cy="605504"/>
            <a:chOff x="0" y="0"/>
            <a:chExt cx="21946489" cy="80733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6488" cy="807339"/>
            </a:xfrm>
            <a:custGeom>
              <a:avLst/>
              <a:gdLst/>
              <a:ahLst/>
              <a:cxnLst/>
              <a:rect r="r" b="b" t="t" l="l"/>
              <a:pathLst>
                <a:path h="807339" w="21946488">
                  <a:moveTo>
                    <a:pt x="0" y="134620"/>
                  </a:moveTo>
                  <a:cubicBezTo>
                    <a:pt x="0" y="60198"/>
                    <a:pt x="60198" y="0"/>
                    <a:pt x="134620" y="0"/>
                  </a:cubicBezTo>
                  <a:lnTo>
                    <a:pt x="21811869" y="0"/>
                  </a:lnTo>
                  <a:cubicBezTo>
                    <a:pt x="21886163" y="0"/>
                    <a:pt x="21946488" y="60198"/>
                    <a:pt x="21946488" y="134620"/>
                  </a:cubicBezTo>
                  <a:lnTo>
                    <a:pt x="21946488" y="672719"/>
                  </a:lnTo>
                  <a:cubicBezTo>
                    <a:pt x="21946488" y="747014"/>
                    <a:pt x="21886290" y="807339"/>
                    <a:pt x="21811869" y="807339"/>
                  </a:cubicBezTo>
                  <a:lnTo>
                    <a:pt x="134620" y="807339"/>
                  </a:lnTo>
                  <a:cubicBezTo>
                    <a:pt x="60198" y="807339"/>
                    <a:pt x="0" y="747141"/>
                    <a:pt x="0" y="672719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8765276" y="3248604"/>
            <a:ext cx="869937" cy="173987"/>
          </a:xfrm>
          <a:custGeom>
            <a:avLst/>
            <a:gdLst/>
            <a:ahLst/>
            <a:cxnLst/>
            <a:rect r="r" b="b" t="t" l="l"/>
            <a:pathLst>
              <a:path h="173987" w="869937">
                <a:moveTo>
                  <a:pt x="0" y="0"/>
                </a:moveTo>
                <a:lnTo>
                  <a:pt x="869937" y="0"/>
                </a:lnTo>
                <a:lnTo>
                  <a:pt x="869937" y="173988"/>
                </a:lnTo>
                <a:lnTo>
                  <a:pt x="0" y="173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887635" y="411404"/>
            <a:ext cx="7476544" cy="2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05  •  SYSTEM DESIGN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87635" y="887635"/>
            <a:ext cx="16398916" cy="72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System Block Diagram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987027" y="466306"/>
            <a:ext cx="1368152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06  /  15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71978" y="2850556"/>
            <a:ext cx="2919270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Raw station data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71978" y="3344713"/>
            <a:ext cx="2919270" cy="51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Weather + soil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568448" y="2850556"/>
            <a:ext cx="2919270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Preprocessing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568448" y="3344713"/>
            <a:ext cx="2919270" cy="51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Timestamp, gaps,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hourly grid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864909" y="2850556"/>
            <a:ext cx="2919270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Hampel filter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64909" y="3344713"/>
            <a:ext cx="2919270" cy="51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Spike detection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and replacement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161379" y="2850556"/>
            <a:ext cx="2919270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CEEMDAN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161379" y="3344713"/>
            <a:ext cx="2919270" cy="51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8 IMFs + trend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71978" y="5870429"/>
            <a:ext cx="2919270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IMF selection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71978" y="6364595"/>
            <a:ext cx="2919270" cy="51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Retain IMF 7, 8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and trend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568448" y="5870429"/>
            <a:ext cx="2919270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Feature building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568448" y="6364595"/>
            <a:ext cx="2919270" cy="51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Lagged + weather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features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864909" y="5870429"/>
            <a:ext cx="2919270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LightGBM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864909" y="6364595"/>
            <a:ext cx="2919270" cy="51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Predict moisture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after 24 hours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161379" y="5870429"/>
            <a:ext cx="2919270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Evaluation + SHAP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161379" y="6364595"/>
            <a:ext cx="2919270" cy="51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MAE / RMSE / R²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feature explanation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71978" y="8904037"/>
            <a:ext cx="15712583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Evaluation is chronological (70% train / 15% validation / 15% test); full-series CEEMDAN has a future-information leakage caveat.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87635" y="9919821"/>
            <a:ext cx="11594563" cy="1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SIGNAL PROCESSING  •  FINAL PROJECT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6714546" y="9869110"/>
            <a:ext cx="5857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4379777" y="3231446"/>
            <a:ext cx="869937" cy="173987"/>
          </a:xfrm>
          <a:custGeom>
            <a:avLst/>
            <a:gdLst/>
            <a:ahLst/>
            <a:cxnLst/>
            <a:rect r="r" b="b" t="t" l="l"/>
            <a:pathLst>
              <a:path h="173987" w="869937">
                <a:moveTo>
                  <a:pt x="0" y="0"/>
                </a:moveTo>
                <a:lnTo>
                  <a:pt x="869936" y="0"/>
                </a:lnTo>
                <a:lnTo>
                  <a:pt x="869936" y="173988"/>
                </a:lnTo>
                <a:lnTo>
                  <a:pt x="0" y="173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3061737" y="3335598"/>
            <a:ext cx="869937" cy="173987"/>
          </a:xfrm>
          <a:custGeom>
            <a:avLst/>
            <a:gdLst/>
            <a:ahLst/>
            <a:cxnLst/>
            <a:rect r="r" b="b" t="t" l="l"/>
            <a:pathLst>
              <a:path h="173987" w="869937">
                <a:moveTo>
                  <a:pt x="0" y="0"/>
                </a:moveTo>
                <a:lnTo>
                  <a:pt x="869937" y="0"/>
                </a:lnTo>
                <a:lnTo>
                  <a:pt x="869937" y="173987"/>
                </a:lnTo>
                <a:lnTo>
                  <a:pt x="0" y="173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4468806" y="6277602"/>
            <a:ext cx="869937" cy="173987"/>
          </a:xfrm>
          <a:custGeom>
            <a:avLst/>
            <a:gdLst/>
            <a:ahLst/>
            <a:cxnLst/>
            <a:rect r="r" b="b" t="t" l="l"/>
            <a:pathLst>
              <a:path h="173987" w="869937">
                <a:moveTo>
                  <a:pt x="0" y="0"/>
                </a:moveTo>
                <a:lnTo>
                  <a:pt x="869937" y="0"/>
                </a:lnTo>
                <a:lnTo>
                  <a:pt x="869937" y="173987"/>
                </a:lnTo>
                <a:lnTo>
                  <a:pt x="0" y="173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8765276" y="6268477"/>
            <a:ext cx="869937" cy="173987"/>
          </a:xfrm>
          <a:custGeom>
            <a:avLst/>
            <a:gdLst/>
            <a:ahLst/>
            <a:cxnLst/>
            <a:rect r="r" b="b" t="t" l="l"/>
            <a:pathLst>
              <a:path h="173987" w="869937">
                <a:moveTo>
                  <a:pt x="0" y="0"/>
                </a:moveTo>
                <a:lnTo>
                  <a:pt x="869937" y="0"/>
                </a:lnTo>
                <a:lnTo>
                  <a:pt x="869937" y="173987"/>
                </a:lnTo>
                <a:lnTo>
                  <a:pt x="0" y="173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3125222" y="6268477"/>
            <a:ext cx="869937" cy="173987"/>
          </a:xfrm>
          <a:custGeom>
            <a:avLst/>
            <a:gdLst/>
            <a:ahLst/>
            <a:cxnLst/>
            <a:rect r="r" b="b" t="t" l="l"/>
            <a:pathLst>
              <a:path h="173987" w="869937">
                <a:moveTo>
                  <a:pt x="0" y="0"/>
                </a:moveTo>
                <a:lnTo>
                  <a:pt x="869937" y="0"/>
                </a:lnTo>
                <a:lnTo>
                  <a:pt x="869937" y="173987"/>
                </a:lnTo>
                <a:lnTo>
                  <a:pt x="0" y="173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6" id="66"/>
          <p:cNvSpPr/>
          <p:nvPr/>
        </p:nvSpPr>
        <p:spPr>
          <a:xfrm>
            <a:off x="2594853" y="4845534"/>
            <a:ext cx="13392174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7" id="67"/>
          <p:cNvSpPr/>
          <p:nvPr/>
        </p:nvSpPr>
        <p:spPr>
          <a:xfrm flipH="false" flipV="false" rot="5295090">
            <a:off x="2195231" y="5164991"/>
            <a:ext cx="869937" cy="173987"/>
          </a:xfrm>
          <a:custGeom>
            <a:avLst/>
            <a:gdLst/>
            <a:ahLst/>
            <a:cxnLst/>
            <a:rect r="r" b="b" t="t" l="l"/>
            <a:pathLst>
              <a:path h="173987" w="869937">
                <a:moveTo>
                  <a:pt x="0" y="0"/>
                </a:moveTo>
                <a:lnTo>
                  <a:pt x="869936" y="0"/>
                </a:lnTo>
                <a:lnTo>
                  <a:pt x="869936" y="173988"/>
                </a:lnTo>
                <a:lnTo>
                  <a:pt x="0" y="173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5400000">
            <a:off x="15465065" y="4390756"/>
            <a:ext cx="869937" cy="173987"/>
          </a:xfrm>
          <a:custGeom>
            <a:avLst/>
            <a:gdLst/>
            <a:ahLst/>
            <a:cxnLst/>
            <a:rect r="r" b="b" t="t" l="l"/>
            <a:pathLst>
              <a:path h="173987" w="869937">
                <a:moveTo>
                  <a:pt x="0" y="0"/>
                </a:moveTo>
                <a:lnTo>
                  <a:pt x="869936" y="0"/>
                </a:lnTo>
                <a:lnTo>
                  <a:pt x="869936" y="173987"/>
                </a:lnTo>
                <a:lnTo>
                  <a:pt x="0" y="173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7635" y="411404"/>
            <a:ext cx="7476544" cy="2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06  •  DATA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635" y="887635"/>
            <a:ext cx="16398916" cy="72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Dataset &amp; Experimental Setup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8510" y="1743294"/>
            <a:ext cx="1029500" cy="75495"/>
            <a:chOff x="0" y="0"/>
            <a:chExt cx="1372667" cy="100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616" cy="100711"/>
            </a:xfrm>
            <a:custGeom>
              <a:avLst/>
              <a:gdLst/>
              <a:ahLst/>
              <a:cxnLst/>
              <a:rect r="r" b="b" t="t" l="l"/>
              <a:pathLst>
                <a:path h="100711" w="1372616">
                  <a:moveTo>
                    <a:pt x="0" y="0"/>
                  </a:moveTo>
                  <a:lnTo>
                    <a:pt x="1372616" y="0"/>
                  </a:lnTo>
                  <a:lnTo>
                    <a:pt x="1372616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42665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987027" y="466306"/>
            <a:ext cx="1368152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07  /  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3429" y="2161194"/>
            <a:ext cx="3803828" cy="1456553"/>
            <a:chOff x="0" y="0"/>
            <a:chExt cx="5071770" cy="1942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71745" cy="1942084"/>
            </a:xfrm>
            <a:custGeom>
              <a:avLst/>
              <a:gdLst/>
              <a:ahLst/>
              <a:cxnLst/>
              <a:rect r="r" b="b" t="t" l="l"/>
              <a:pathLst>
                <a:path h="1942084" w="5071745">
                  <a:moveTo>
                    <a:pt x="0" y="323723"/>
                  </a:moveTo>
                  <a:cubicBezTo>
                    <a:pt x="0" y="144907"/>
                    <a:pt x="144907" y="0"/>
                    <a:pt x="323723" y="0"/>
                  </a:cubicBezTo>
                  <a:lnTo>
                    <a:pt x="4748022" y="0"/>
                  </a:lnTo>
                  <a:cubicBezTo>
                    <a:pt x="4926838" y="0"/>
                    <a:pt x="5071745" y="144907"/>
                    <a:pt x="5071745" y="323723"/>
                  </a:cubicBezTo>
                  <a:lnTo>
                    <a:pt x="5071745" y="1618361"/>
                  </a:lnTo>
                  <a:cubicBezTo>
                    <a:pt x="5071745" y="1797177"/>
                    <a:pt x="4926838" y="1942084"/>
                    <a:pt x="4748022" y="1942084"/>
                  </a:cubicBezTo>
                  <a:lnTo>
                    <a:pt x="323723" y="1942084"/>
                  </a:lnTo>
                  <a:cubicBezTo>
                    <a:pt x="144907" y="1942084"/>
                    <a:pt x="0" y="1797177"/>
                    <a:pt x="0" y="1618361"/>
                  </a:cubicBezTo>
                  <a:close/>
                </a:path>
              </a:pathLst>
            </a:custGeom>
            <a:solidFill>
              <a:srgbClr val="DCE9DD"/>
            </a:solidFill>
            <a:ln w="15252" cap="sq">
              <a:solidFill>
                <a:srgbClr val="DCE9DD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134713" y="2489454"/>
            <a:ext cx="3221260" cy="41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22,112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4713" y="3042733"/>
            <a:ext cx="3221260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raw rows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057537" y="2161194"/>
            <a:ext cx="3803828" cy="1456553"/>
            <a:chOff x="0" y="0"/>
            <a:chExt cx="5071770" cy="19420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71745" cy="1942084"/>
            </a:xfrm>
            <a:custGeom>
              <a:avLst/>
              <a:gdLst/>
              <a:ahLst/>
              <a:cxnLst/>
              <a:rect r="r" b="b" t="t" l="l"/>
              <a:pathLst>
                <a:path h="1942084" w="5071745">
                  <a:moveTo>
                    <a:pt x="0" y="323723"/>
                  </a:moveTo>
                  <a:cubicBezTo>
                    <a:pt x="0" y="144907"/>
                    <a:pt x="144907" y="0"/>
                    <a:pt x="323723" y="0"/>
                  </a:cubicBezTo>
                  <a:lnTo>
                    <a:pt x="4748022" y="0"/>
                  </a:lnTo>
                  <a:cubicBezTo>
                    <a:pt x="4926838" y="0"/>
                    <a:pt x="5071745" y="144907"/>
                    <a:pt x="5071745" y="323723"/>
                  </a:cubicBezTo>
                  <a:lnTo>
                    <a:pt x="5071745" y="1618361"/>
                  </a:lnTo>
                  <a:cubicBezTo>
                    <a:pt x="5071745" y="1797177"/>
                    <a:pt x="4926838" y="1942084"/>
                    <a:pt x="4748022" y="1942084"/>
                  </a:cubicBezTo>
                  <a:lnTo>
                    <a:pt x="323723" y="1942084"/>
                  </a:lnTo>
                  <a:cubicBezTo>
                    <a:pt x="144907" y="1942084"/>
                    <a:pt x="0" y="1797177"/>
                    <a:pt x="0" y="1618361"/>
                  </a:cubicBezTo>
                  <a:close/>
                </a:path>
              </a:pathLst>
            </a:custGeom>
            <a:solidFill>
              <a:srgbClr val="E3ECF8"/>
            </a:solidFill>
            <a:ln w="15252" cap="sq">
              <a:solidFill>
                <a:srgbClr val="E3ECF8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5348821" y="2489454"/>
            <a:ext cx="3221260" cy="41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456B97"/>
                </a:solidFill>
                <a:latin typeface="Aptos Bold"/>
                <a:ea typeface="Aptos Bold"/>
                <a:cs typeface="Aptos Bold"/>
                <a:sym typeface="Aptos Bold"/>
              </a:rPr>
              <a:t>13,567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48821" y="3042733"/>
            <a:ext cx="3221260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hourly values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71635" y="2161194"/>
            <a:ext cx="3803828" cy="1456553"/>
            <a:chOff x="0" y="0"/>
            <a:chExt cx="5071770" cy="19420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71745" cy="1942084"/>
            </a:xfrm>
            <a:custGeom>
              <a:avLst/>
              <a:gdLst/>
              <a:ahLst/>
              <a:cxnLst/>
              <a:rect r="r" b="b" t="t" l="l"/>
              <a:pathLst>
                <a:path h="1942084" w="5071745">
                  <a:moveTo>
                    <a:pt x="0" y="323723"/>
                  </a:moveTo>
                  <a:cubicBezTo>
                    <a:pt x="0" y="144907"/>
                    <a:pt x="144907" y="0"/>
                    <a:pt x="323723" y="0"/>
                  </a:cubicBezTo>
                  <a:lnTo>
                    <a:pt x="4748022" y="0"/>
                  </a:lnTo>
                  <a:cubicBezTo>
                    <a:pt x="4926838" y="0"/>
                    <a:pt x="5071745" y="144907"/>
                    <a:pt x="5071745" y="323723"/>
                  </a:cubicBezTo>
                  <a:lnTo>
                    <a:pt x="5071745" y="1618361"/>
                  </a:lnTo>
                  <a:cubicBezTo>
                    <a:pt x="5071745" y="1797177"/>
                    <a:pt x="4926838" y="1942084"/>
                    <a:pt x="4748022" y="1942084"/>
                  </a:cubicBezTo>
                  <a:lnTo>
                    <a:pt x="323723" y="1942084"/>
                  </a:lnTo>
                  <a:cubicBezTo>
                    <a:pt x="144907" y="1942084"/>
                    <a:pt x="0" y="1797177"/>
                    <a:pt x="0" y="1618361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562919" y="2489454"/>
            <a:ext cx="3221260" cy="41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1,496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62919" y="3042733"/>
            <a:ext cx="3221260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Hampel flags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485743" y="2161194"/>
            <a:ext cx="3803828" cy="1456553"/>
            <a:chOff x="0" y="0"/>
            <a:chExt cx="5071770" cy="19420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71745" cy="1942084"/>
            </a:xfrm>
            <a:custGeom>
              <a:avLst/>
              <a:gdLst/>
              <a:ahLst/>
              <a:cxnLst/>
              <a:rect r="r" b="b" t="t" l="l"/>
              <a:pathLst>
                <a:path h="1942084" w="5071745">
                  <a:moveTo>
                    <a:pt x="0" y="323723"/>
                  </a:moveTo>
                  <a:cubicBezTo>
                    <a:pt x="0" y="144907"/>
                    <a:pt x="144907" y="0"/>
                    <a:pt x="323723" y="0"/>
                  </a:cubicBezTo>
                  <a:lnTo>
                    <a:pt x="4748022" y="0"/>
                  </a:lnTo>
                  <a:cubicBezTo>
                    <a:pt x="4926838" y="0"/>
                    <a:pt x="5071745" y="144907"/>
                    <a:pt x="5071745" y="323723"/>
                  </a:cubicBezTo>
                  <a:lnTo>
                    <a:pt x="5071745" y="1618361"/>
                  </a:lnTo>
                  <a:cubicBezTo>
                    <a:pt x="5071745" y="1797177"/>
                    <a:pt x="4926838" y="1942084"/>
                    <a:pt x="4748022" y="1942084"/>
                  </a:cubicBezTo>
                  <a:lnTo>
                    <a:pt x="323723" y="1942084"/>
                  </a:lnTo>
                  <a:cubicBezTo>
                    <a:pt x="144907" y="1942084"/>
                    <a:pt x="0" y="1797177"/>
                    <a:pt x="0" y="1618361"/>
                  </a:cubicBezTo>
                  <a:close/>
                </a:path>
              </a:pathLst>
            </a:custGeom>
            <a:solidFill>
              <a:srgbClr val="F0F2EB"/>
            </a:solidFill>
            <a:ln w="15252" cap="sq">
              <a:solidFill>
                <a:srgbClr val="F0F2EB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3777027" y="2489454"/>
            <a:ext cx="3221260" cy="41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90%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77027" y="3042733"/>
            <a:ext cx="3221260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median moisture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43429" y="4082939"/>
            <a:ext cx="8251288" cy="4064632"/>
            <a:chOff x="0" y="0"/>
            <a:chExt cx="11001718" cy="54195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01629" cy="5419471"/>
            </a:xfrm>
            <a:custGeom>
              <a:avLst/>
              <a:gdLst/>
              <a:ahLst/>
              <a:cxnLst/>
              <a:rect r="r" b="b" t="t" l="l"/>
              <a:pathLst>
                <a:path h="5419471" w="11001629">
                  <a:moveTo>
                    <a:pt x="0" y="903224"/>
                  </a:moveTo>
                  <a:cubicBezTo>
                    <a:pt x="0" y="404368"/>
                    <a:pt x="404368" y="0"/>
                    <a:pt x="903224" y="0"/>
                  </a:cubicBezTo>
                  <a:lnTo>
                    <a:pt x="10098405" y="0"/>
                  </a:lnTo>
                  <a:cubicBezTo>
                    <a:pt x="10597262" y="0"/>
                    <a:pt x="11001629" y="404368"/>
                    <a:pt x="11001629" y="903224"/>
                  </a:cubicBezTo>
                  <a:lnTo>
                    <a:pt x="11001629" y="4516247"/>
                  </a:lnTo>
                  <a:cubicBezTo>
                    <a:pt x="11001629" y="5015103"/>
                    <a:pt x="10597262" y="5419471"/>
                    <a:pt x="10098405" y="5419471"/>
                  </a:cubicBezTo>
                  <a:lnTo>
                    <a:pt x="903224" y="5419471"/>
                  </a:lnTo>
                  <a:cubicBezTo>
                    <a:pt x="404368" y="5419471"/>
                    <a:pt x="0" y="5015103"/>
                    <a:pt x="0" y="451624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299439" y="4497762"/>
            <a:ext cx="4044867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DATA SOURCE &amp; TARGET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7727" y="5074282"/>
            <a:ext cx="7115089" cy="2621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P18 BIORO weather-station records (real data).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Period: 7 Mar 2024 – 13 Oct 2025.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Target: soil moisture (%) 24 hours ahead.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Hourly variables include soil moisture, temperature, humidity and rainfall.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463811" y="4082939"/>
            <a:ext cx="7935573" cy="4064632"/>
            <a:chOff x="0" y="0"/>
            <a:chExt cx="10580764" cy="541950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80751" cy="5419471"/>
            </a:xfrm>
            <a:custGeom>
              <a:avLst/>
              <a:gdLst/>
              <a:ahLst/>
              <a:cxnLst/>
              <a:rect r="r" b="b" t="t" l="l"/>
              <a:pathLst>
                <a:path h="5419471" w="10580751">
                  <a:moveTo>
                    <a:pt x="0" y="903224"/>
                  </a:moveTo>
                  <a:cubicBezTo>
                    <a:pt x="0" y="404368"/>
                    <a:pt x="404368" y="0"/>
                    <a:pt x="903224" y="0"/>
                  </a:cubicBezTo>
                  <a:lnTo>
                    <a:pt x="9677527" y="0"/>
                  </a:lnTo>
                  <a:cubicBezTo>
                    <a:pt x="10176383" y="0"/>
                    <a:pt x="10580751" y="404368"/>
                    <a:pt x="10580751" y="903224"/>
                  </a:cubicBezTo>
                  <a:lnTo>
                    <a:pt x="10580751" y="4516247"/>
                  </a:lnTo>
                  <a:cubicBezTo>
                    <a:pt x="10580751" y="5015103"/>
                    <a:pt x="10176383" y="5419471"/>
                    <a:pt x="9677527" y="5419471"/>
                  </a:cubicBezTo>
                  <a:lnTo>
                    <a:pt x="903224" y="5419471"/>
                  </a:lnTo>
                  <a:cubicBezTo>
                    <a:pt x="404368" y="5419471"/>
                    <a:pt x="0" y="5015103"/>
                    <a:pt x="0" y="4516247"/>
                  </a:cubicBezTo>
                  <a:close/>
                </a:path>
              </a:pathLst>
            </a:custGeom>
            <a:solidFill>
              <a:srgbClr val="E3ECF8"/>
            </a:solidFill>
            <a:ln w="15252" cap="sq">
              <a:solidFill>
                <a:srgbClr val="E3ECF8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9947272" y="4497762"/>
            <a:ext cx="4044867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56B97"/>
                </a:solidFill>
                <a:latin typeface="Aptos Bold"/>
                <a:ea typeface="Aptos Bold"/>
                <a:cs typeface="Aptos Bold"/>
                <a:sym typeface="Aptos Bold"/>
              </a:rPr>
              <a:t>CHRONOLOGICAL SPLIT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903066" y="5277164"/>
            <a:ext cx="2005632" cy="1319289"/>
            <a:chOff x="0" y="0"/>
            <a:chExt cx="2674176" cy="17590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674239" cy="1759204"/>
            </a:xfrm>
            <a:custGeom>
              <a:avLst/>
              <a:gdLst/>
              <a:ahLst/>
              <a:cxnLst/>
              <a:rect r="r" b="b" t="t" l="l"/>
              <a:pathLst>
                <a:path h="1759204" w="2674239">
                  <a:moveTo>
                    <a:pt x="0" y="293243"/>
                  </a:moveTo>
                  <a:cubicBezTo>
                    <a:pt x="0" y="131318"/>
                    <a:pt x="131318" y="0"/>
                    <a:pt x="293243" y="0"/>
                  </a:cubicBezTo>
                  <a:lnTo>
                    <a:pt x="2380996" y="0"/>
                  </a:lnTo>
                  <a:cubicBezTo>
                    <a:pt x="2542921" y="0"/>
                    <a:pt x="2674239" y="131318"/>
                    <a:pt x="2674239" y="293243"/>
                  </a:cubicBezTo>
                  <a:lnTo>
                    <a:pt x="2674239" y="1465961"/>
                  </a:lnTo>
                  <a:cubicBezTo>
                    <a:pt x="2674239" y="1627886"/>
                    <a:pt x="2542921" y="1759204"/>
                    <a:pt x="2380996" y="1759204"/>
                  </a:cubicBezTo>
                  <a:lnTo>
                    <a:pt x="293243" y="1759204"/>
                  </a:lnTo>
                  <a:cubicBezTo>
                    <a:pt x="131318" y="1759077"/>
                    <a:pt x="0" y="1627759"/>
                    <a:pt x="0" y="1465834"/>
                  </a:cubicBezTo>
                  <a:close/>
                </a:path>
              </a:pathLst>
            </a:custGeom>
            <a:solidFill>
              <a:srgbClr val="DCE9DD"/>
            </a:solidFill>
            <a:ln w="15252" cap="sq">
              <a:solidFill>
                <a:srgbClr val="DCE9DD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9947272" y="5582174"/>
            <a:ext cx="1917221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852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70%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947272" y="6076331"/>
            <a:ext cx="1917221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Train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195429" y="5277164"/>
            <a:ext cx="2005632" cy="1319289"/>
            <a:chOff x="0" y="0"/>
            <a:chExt cx="2674176" cy="17590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74239" cy="1759204"/>
            </a:xfrm>
            <a:custGeom>
              <a:avLst/>
              <a:gdLst/>
              <a:ahLst/>
              <a:cxnLst/>
              <a:rect r="r" b="b" t="t" l="l"/>
              <a:pathLst>
                <a:path h="1759204" w="2674239">
                  <a:moveTo>
                    <a:pt x="0" y="293243"/>
                  </a:moveTo>
                  <a:cubicBezTo>
                    <a:pt x="0" y="131318"/>
                    <a:pt x="131318" y="0"/>
                    <a:pt x="293243" y="0"/>
                  </a:cubicBezTo>
                  <a:lnTo>
                    <a:pt x="2380996" y="0"/>
                  </a:lnTo>
                  <a:cubicBezTo>
                    <a:pt x="2542921" y="0"/>
                    <a:pt x="2674239" y="131318"/>
                    <a:pt x="2674239" y="293243"/>
                  </a:cubicBezTo>
                  <a:lnTo>
                    <a:pt x="2674239" y="1465961"/>
                  </a:lnTo>
                  <a:cubicBezTo>
                    <a:pt x="2674239" y="1627886"/>
                    <a:pt x="2542921" y="1759204"/>
                    <a:pt x="2380996" y="1759204"/>
                  </a:cubicBezTo>
                  <a:lnTo>
                    <a:pt x="293243" y="1759204"/>
                  </a:lnTo>
                  <a:cubicBezTo>
                    <a:pt x="131318" y="1759077"/>
                    <a:pt x="0" y="1627759"/>
                    <a:pt x="0" y="1465834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2239635" y="5582174"/>
            <a:ext cx="1917221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852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15%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39635" y="6076331"/>
            <a:ext cx="1917221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Validation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4487792" y="5277164"/>
            <a:ext cx="2005632" cy="1319289"/>
            <a:chOff x="0" y="0"/>
            <a:chExt cx="2674176" cy="17590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674239" cy="1759204"/>
            </a:xfrm>
            <a:custGeom>
              <a:avLst/>
              <a:gdLst/>
              <a:ahLst/>
              <a:cxnLst/>
              <a:rect r="r" b="b" t="t" l="l"/>
              <a:pathLst>
                <a:path h="1759204" w="2674239">
                  <a:moveTo>
                    <a:pt x="0" y="293243"/>
                  </a:moveTo>
                  <a:cubicBezTo>
                    <a:pt x="0" y="131318"/>
                    <a:pt x="131318" y="0"/>
                    <a:pt x="293243" y="0"/>
                  </a:cubicBezTo>
                  <a:lnTo>
                    <a:pt x="2380996" y="0"/>
                  </a:lnTo>
                  <a:cubicBezTo>
                    <a:pt x="2542921" y="0"/>
                    <a:pt x="2674239" y="131318"/>
                    <a:pt x="2674239" y="293243"/>
                  </a:cubicBezTo>
                  <a:lnTo>
                    <a:pt x="2674239" y="1465961"/>
                  </a:lnTo>
                  <a:cubicBezTo>
                    <a:pt x="2674239" y="1627886"/>
                    <a:pt x="2542921" y="1759204"/>
                    <a:pt x="2380996" y="1759204"/>
                  </a:cubicBezTo>
                  <a:lnTo>
                    <a:pt x="293243" y="1759204"/>
                  </a:lnTo>
                  <a:cubicBezTo>
                    <a:pt x="131318" y="1759077"/>
                    <a:pt x="0" y="1627759"/>
                    <a:pt x="0" y="1465834"/>
                  </a:cubicBezTo>
                  <a:close/>
                </a:path>
              </a:pathLst>
            </a:custGeom>
            <a:solidFill>
              <a:srgbClr val="E3ECF8"/>
            </a:solidFill>
            <a:ln w="15252" cap="sq">
              <a:solidFill>
                <a:srgbClr val="E3ECF8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4531997" y="5582174"/>
            <a:ext cx="1917221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852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15%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531997" y="6076331"/>
            <a:ext cx="1917221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Test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947272" y="6968576"/>
            <a:ext cx="6652946" cy="54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Time order is preserved; the last 15% represents about 11 weeks at one station.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43429" y="8887292"/>
            <a:ext cx="16555955" cy="674132"/>
            <a:chOff x="0" y="0"/>
            <a:chExt cx="22074607" cy="89884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074632" cy="898906"/>
            </a:xfrm>
            <a:custGeom>
              <a:avLst/>
              <a:gdLst/>
              <a:ahLst/>
              <a:cxnLst/>
              <a:rect r="r" b="b" t="t" l="l"/>
              <a:pathLst>
                <a:path h="898906" w="22074632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21924772" y="0"/>
                  </a:lnTo>
                  <a:cubicBezTo>
                    <a:pt x="22007449" y="0"/>
                    <a:pt x="22074632" y="67056"/>
                    <a:pt x="22074632" y="149860"/>
                  </a:cubicBezTo>
                  <a:lnTo>
                    <a:pt x="22074632" y="749046"/>
                  </a:lnTo>
                  <a:cubicBezTo>
                    <a:pt x="22074632" y="831723"/>
                    <a:pt x="22007576" y="898906"/>
                    <a:pt x="21924772" y="898906"/>
                  </a:cubicBezTo>
                  <a:lnTo>
                    <a:pt x="149860" y="898906"/>
                  </a:lnTo>
                  <a:cubicBezTo>
                    <a:pt x="67056" y="898906"/>
                    <a:pt x="0" y="831723"/>
                    <a:pt x="0" y="749046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162164" y="9072963"/>
            <a:ext cx="1368152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TAKEAWAY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617203" y="9041311"/>
            <a:ext cx="14408544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The series is often near saturation, so a simple persistence forecast is a strong baseline.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87635" y="9919821"/>
            <a:ext cx="11594563" cy="1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SIGNAL PROCESSING  •  FINAL PROJECT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714546" y="9869110"/>
            <a:ext cx="5857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7635" y="411404"/>
            <a:ext cx="7476544" cy="2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07  •  SIGNAL CLEANING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635" y="887635"/>
            <a:ext cx="16398916" cy="72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Preprocessing: Hampel Filter &amp; Results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8510" y="1743294"/>
            <a:ext cx="1029500" cy="75495"/>
            <a:chOff x="0" y="0"/>
            <a:chExt cx="1372667" cy="100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616" cy="100711"/>
            </a:xfrm>
            <a:custGeom>
              <a:avLst/>
              <a:gdLst/>
              <a:ahLst/>
              <a:cxnLst/>
              <a:rect r="r" b="b" t="t" l="l"/>
              <a:pathLst>
                <a:path h="100711" w="1372616">
                  <a:moveTo>
                    <a:pt x="0" y="0"/>
                  </a:moveTo>
                  <a:lnTo>
                    <a:pt x="1372616" y="0"/>
                  </a:lnTo>
                  <a:lnTo>
                    <a:pt x="1372616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42665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987027" y="466306"/>
            <a:ext cx="1368152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08  /  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3429" y="2161194"/>
            <a:ext cx="5711838" cy="6398181"/>
            <a:chOff x="0" y="0"/>
            <a:chExt cx="7615784" cy="85309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15809" cy="8530972"/>
            </a:xfrm>
            <a:custGeom>
              <a:avLst/>
              <a:gdLst/>
              <a:ahLst/>
              <a:cxnLst/>
              <a:rect r="r" b="b" t="t" l="l"/>
              <a:pathLst>
                <a:path h="8530972" w="7615809">
                  <a:moveTo>
                    <a:pt x="0" y="1269365"/>
                  </a:moveTo>
                  <a:cubicBezTo>
                    <a:pt x="0" y="568325"/>
                    <a:pt x="568325" y="0"/>
                    <a:pt x="1269365" y="0"/>
                  </a:cubicBezTo>
                  <a:lnTo>
                    <a:pt x="6346444" y="0"/>
                  </a:lnTo>
                  <a:cubicBezTo>
                    <a:pt x="7047484" y="0"/>
                    <a:pt x="7615809" y="568325"/>
                    <a:pt x="7615809" y="1269365"/>
                  </a:cubicBezTo>
                  <a:lnTo>
                    <a:pt x="7615809" y="7261606"/>
                  </a:lnTo>
                  <a:cubicBezTo>
                    <a:pt x="7615809" y="7962647"/>
                    <a:pt x="7047484" y="8530972"/>
                    <a:pt x="6346444" y="8530972"/>
                  </a:cubicBezTo>
                  <a:lnTo>
                    <a:pt x="1269365" y="8530972"/>
                  </a:lnTo>
                  <a:cubicBezTo>
                    <a:pt x="568325" y="8530844"/>
                    <a:pt x="0" y="7962646"/>
                    <a:pt x="0" y="726160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71978" y="2589743"/>
            <a:ext cx="2672191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WHAT IT DOES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0266" y="3097635"/>
            <a:ext cx="4781550" cy="3719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Compares each sample with a local median.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Uses median absolute deviation (MAD) as a robust spread estimate.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Flags points beyond a 3-sigma robust threshold and replaces them with the local median.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Goal: reduce isolated spikes without heavily smoothing the whole signal.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27782" y="7198900"/>
            <a:ext cx="4750975" cy="481965"/>
            <a:chOff x="0" y="0"/>
            <a:chExt cx="6334633" cy="6426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34633" cy="642620"/>
            </a:xfrm>
            <a:custGeom>
              <a:avLst/>
              <a:gdLst/>
              <a:ahLst/>
              <a:cxnLst/>
              <a:rect r="r" b="b" t="t" l="l"/>
              <a:pathLst>
                <a:path h="642620" w="6334633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6227572" y="0"/>
                  </a:lnTo>
                  <a:cubicBezTo>
                    <a:pt x="6286754" y="0"/>
                    <a:pt x="6334633" y="48006"/>
                    <a:pt x="6334633" y="107061"/>
                  </a:cubicBezTo>
                  <a:lnTo>
                    <a:pt x="6334633" y="535559"/>
                  </a:lnTo>
                  <a:cubicBezTo>
                    <a:pt x="6334633" y="594741"/>
                    <a:pt x="6286627" y="642620"/>
                    <a:pt x="6227572" y="642620"/>
                  </a:cubicBezTo>
                  <a:lnTo>
                    <a:pt x="107061" y="642620"/>
                  </a:lnTo>
                  <a:cubicBezTo>
                    <a:pt x="48006" y="642620"/>
                    <a:pt x="0" y="594614"/>
                    <a:pt x="0" y="535559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81792" y="7315943"/>
            <a:ext cx="4442936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1,496 points flagged  •  ~11%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1978" y="7833350"/>
            <a:ext cx="4662564" cy="47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i="true">
                <a:solidFill>
                  <a:srgbClr val="68756E"/>
                </a:solidFill>
                <a:latin typeface="Aptos Italics"/>
                <a:ea typeface="Aptos Italics"/>
                <a:cs typeface="Aptos Italics"/>
                <a:sym typeface="Aptos Italics"/>
              </a:rPr>
              <a:t>This is relatively high; some real rapid changes may also be removed.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828282" y="2161194"/>
            <a:ext cx="10571102" cy="6398181"/>
            <a:chOff x="0" y="0"/>
            <a:chExt cx="14094803" cy="85309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094840" cy="8530972"/>
            </a:xfrm>
            <a:custGeom>
              <a:avLst/>
              <a:gdLst/>
              <a:ahLst/>
              <a:cxnLst/>
              <a:rect r="r" b="b" t="t" l="l"/>
              <a:pathLst>
                <a:path h="8530972" w="14094840">
                  <a:moveTo>
                    <a:pt x="0" y="1421892"/>
                  </a:moveTo>
                  <a:cubicBezTo>
                    <a:pt x="0" y="636524"/>
                    <a:pt x="636524" y="0"/>
                    <a:pt x="1421892" y="0"/>
                  </a:cubicBezTo>
                  <a:lnTo>
                    <a:pt x="12672949" y="0"/>
                  </a:lnTo>
                  <a:cubicBezTo>
                    <a:pt x="13458189" y="0"/>
                    <a:pt x="14094840" y="636524"/>
                    <a:pt x="14094840" y="1421892"/>
                  </a:cubicBezTo>
                  <a:lnTo>
                    <a:pt x="14094840" y="7109079"/>
                  </a:lnTo>
                  <a:cubicBezTo>
                    <a:pt x="14094840" y="7894320"/>
                    <a:pt x="13458317" y="8530972"/>
                    <a:pt x="12672949" y="8530972"/>
                  </a:cubicBezTo>
                  <a:lnTo>
                    <a:pt x="1421892" y="8530972"/>
                  </a:lnTo>
                  <a:cubicBezTo>
                    <a:pt x="636524" y="8530844"/>
                    <a:pt x="0" y="7894320"/>
                    <a:pt x="0" y="710907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959451" y="2418112"/>
            <a:ext cx="10308774" cy="5884345"/>
            <a:chOff x="0" y="0"/>
            <a:chExt cx="13745032" cy="7845793"/>
          </a:xfrm>
        </p:grpSpPr>
        <p:sp>
          <p:nvSpPr>
            <p:cNvPr name="Freeform 18" id="18" descr="hampel.png"/>
            <p:cNvSpPr/>
            <p:nvPr/>
          </p:nvSpPr>
          <p:spPr>
            <a:xfrm flipH="false" flipV="false" rot="0">
              <a:off x="0" y="0"/>
              <a:ext cx="13745083" cy="7845806"/>
            </a:xfrm>
            <a:custGeom>
              <a:avLst/>
              <a:gdLst/>
              <a:ahLst/>
              <a:cxnLst/>
              <a:rect r="r" b="b" t="t" l="l"/>
              <a:pathLst>
                <a:path h="7845806" w="13745083">
                  <a:moveTo>
                    <a:pt x="0" y="0"/>
                  </a:moveTo>
                  <a:lnTo>
                    <a:pt x="13745083" y="0"/>
                  </a:lnTo>
                  <a:lnTo>
                    <a:pt x="13745083" y="7845806"/>
                  </a:lnTo>
                  <a:lnTo>
                    <a:pt x="0" y="7845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43429" y="8887292"/>
            <a:ext cx="16555955" cy="674132"/>
            <a:chOff x="0" y="0"/>
            <a:chExt cx="22074607" cy="8988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074632" cy="898906"/>
            </a:xfrm>
            <a:custGeom>
              <a:avLst/>
              <a:gdLst/>
              <a:ahLst/>
              <a:cxnLst/>
              <a:rect r="r" b="b" t="t" l="l"/>
              <a:pathLst>
                <a:path h="898906" w="22074632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21924772" y="0"/>
                  </a:lnTo>
                  <a:cubicBezTo>
                    <a:pt x="22007449" y="0"/>
                    <a:pt x="22074632" y="67056"/>
                    <a:pt x="22074632" y="149860"/>
                  </a:cubicBezTo>
                  <a:lnTo>
                    <a:pt x="22074632" y="749046"/>
                  </a:lnTo>
                  <a:cubicBezTo>
                    <a:pt x="22074632" y="831723"/>
                    <a:pt x="22007576" y="898906"/>
                    <a:pt x="21924772" y="898906"/>
                  </a:cubicBezTo>
                  <a:lnTo>
                    <a:pt x="149860" y="898906"/>
                  </a:lnTo>
                  <a:cubicBezTo>
                    <a:pt x="67056" y="898906"/>
                    <a:pt x="0" y="831723"/>
                    <a:pt x="0" y="749046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162164" y="9072963"/>
            <a:ext cx="1368152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TAKEAWAY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17203" y="9041311"/>
            <a:ext cx="14408544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Hampel reduces isolated spikes, but its threshold needs tuning because it flags about 11% of samples.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7635" y="9919821"/>
            <a:ext cx="11594563" cy="1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SIGNAL PROCESSING  •  FINAL PROJECT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714546" y="9869110"/>
            <a:ext cx="5857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7635" y="411404"/>
            <a:ext cx="7476544" cy="2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08  •  MULTISCALE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635" y="887635"/>
            <a:ext cx="16398916" cy="72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CEEMDAN Decomposition &amp; IMF Selection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8510" y="1743294"/>
            <a:ext cx="1029500" cy="75495"/>
            <a:chOff x="0" y="0"/>
            <a:chExt cx="1372667" cy="100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616" cy="100711"/>
            </a:xfrm>
            <a:custGeom>
              <a:avLst/>
              <a:gdLst/>
              <a:ahLst/>
              <a:cxnLst/>
              <a:rect r="r" b="b" t="t" l="l"/>
              <a:pathLst>
                <a:path h="100711" w="1372616">
                  <a:moveTo>
                    <a:pt x="0" y="0"/>
                  </a:moveTo>
                  <a:lnTo>
                    <a:pt x="1372616" y="0"/>
                  </a:lnTo>
                  <a:lnTo>
                    <a:pt x="1372616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42665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987027" y="466306"/>
            <a:ext cx="1368152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09  /  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3429" y="2161194"/>
            <a:ext cx="6123642" cy="6398181"/>
            <a:chOff x="0" y="0"/>
            <a:chExt cx="8164855" cy="85309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64830" cy="8530844"/>
            </a:xfrm>
            <a:custGeom>
              <a:avLst/>
              <a:gdLst/>
              <a:ahLst/>
              <a:cxnLst/>
              <a:rect r="r" b="b" t="t" l="l"/>
              <a:pathLst>
                <a:path h="8530844" w="8164830">
                  <a:moveTo>
                    <a:pt x="0" y="1360805"/>
                  </a:moveTo>
                  <a:cubicBezTo>
                    <a:pt x="0" y="609219"/>
                    <a:pt x="609219" y="0"/>
                    <a:pt x="1360805" y="0"/>
                  </a:cubicBezTo>
                  <a:lnTo>
                    <a:pt x="6804025" y="0"/>
                  </a:lnTo>
                  <a:cubicBezTo>
                    <a:pt x="7555611" y="0"/>
                    <a:pt x="8164830" y="609219"/>
                    <a:pt x="8164830" y="1360805"/>
                  </a:cubicBezTo>
                  <a:lnTo>
                    <a:pt x="8164830" y="7170039"/>
                  </a:lnTo>
                  <a:cubicBezTo>
                    <a:pt x="8164830" y="7921625"/>
                    <a:pt x="7555612" y="8530844"/>
                    <a:pt x="6804025" y="8530844"/>
                  </a:cubicBezTo>
                  <a:lnTo>
                    <a:pt x="1360805" y="8530844"/>
                  </a:lnTo>
                  <a:cubicBezTo>
                    <a:pt x="609219" y="8530844"/>
                    <a:pt x="0" y="7921625"/>
                    <a:pt x="0" y="717003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71978" y="2589743"/>
            <a:ext cx="3221260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WHY CEEMDAN?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0266" y="3097635"/>
            <a:ext cx="5261981" cy="385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Decomposes a non-stationary signal into oscillatory components (IMFs) plus a residual trend.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IMFs 1–6 were treated as small, high-frequency components and dropped.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IMF 7, IMF 8 and the trend were retained for reconstruction/features.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The residual trend contains about 98% of signal energy.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27782" y="7267537"/>
            <a:ext cx="2142896" cy="481965"/>
            <a:chOff x="0" y="0"/>
            <a:chExt cx="2857195" cy="6426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57119" cy="642620"/>
            </a:xfrm>
            <a:custGeom>
              <a:avLst/>
              <a:gdLst/>
              <a:ahLst/>
              <a:cxnLst/>
              <a:rect r="r" b="b" t="t" l="l"/>
              <a:pathLst>
                <a:path h="642620" w="2857119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2750058" y="0"/>
                  </a:lnTo>
                  <a:cubicBezTo>
                    <a:pt x="2809240" y="0"/>
                    <a:pt x="2857119" y="48006"/>
                    <a:pt x="2857119" y="107061"/>
                  </a:cubicBezTo>
                  <a:lnTo>
                    <a:pt x="2857119" y="535559"/>
                  </a:lnTo>
                  <a:cubicBezTo>
                    <a:pt x="2857119" y="594741"/>
                    <a:pt x="2809113" y="642620"/>
                    <a:pt x="2750058" y="642620"/>
                  </a:cubicBezTo>
                  <a:lnTo>
                    <a:pt x="107061" y="642620"/>
                  </a:lnTo>
                  <a:cubicBezTo>
                    <a:pt x="48006" y="642620"/>
                    <a:pt x="0" y="594614"/>
                    <a:pt x="0" y="535559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81792" y="7384571"/>
            <a:ext cx="1834858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Important caveat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1978" y="7860811"/>
            <a:ext cx="5211632" cy="47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i="true">
                <a:solidFill>
                  <a:srgbClr val="68756E"/>
                </a:solidFill>
                <a:latin typeface="Aptos Italics"/>
                <a:ea typeface="Aptos Italics"/>
                <a:cs typeface="Aptos Italics"/>
                <a:sym typeface="Aptos Italics"/>
              </a:rPr>
              <a:t>Full-series decomposition uses future samples; past-only CEEMDAN is the fairer variant.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240086" y="2161194"/>
            <a:ext cx="10159298" cy="6398181"/>
            <a:chOff x="0" y="0"/>
            <a:chExt cx="13545731" cy="85309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545820" cy="8530972"/>
            </a:xfrm>
            <a:custGeom>
              <a:avLst/>
              <a:gdLst/>
              <a:ahLst/>
              <a:cxnLst/>
              <a:rect r="r" b="b" t="t" l="l"/>
              <a:pathLst>
                <a:path h="8530972" w="13545820">
                  <a:moveTo>
                    <a:pt x="0" y="1421892"/>
                  </a:moveTo>
                  <a:cubicBezTo>
                    <a:pt x="0" y="636524"/>
                    <a:pt x="636524" y="0"/>
                    <a:pt x="1421892" y="0"/>
                  </a:cubicBezTo>
                  <a:lnTo>
                    <a:pt x="12123928" y="0"/>
                  </a:lnTo>
                  <a:cubicBezTo>
                    <a:pt x="12909169" y="0"/>
                    <a:pt x="13545820" y="636524"/>
                    <a:pt x="13545820" y="1421892"/>
                  </a:cubicBezTo>
                  <a:lnTo>
                    <a:pt x="13545820" y="7109079"/>
                  </a:lnTo>
                  <a:cubicBezTo>
                    <a:pt x="13545820" y="7894320"/>
                    <a:pt x="12909297" y="8530972"/>
                    <a:pt x="12123928" y="8530972"/>
                  </a:cubicBezTo>
                  <a:lnTo>
                    <a:pt x="1421892" y="8530972"/>
                  </a:lnTo>
                  <a:cubicBezTo>
                    <a:pt x="636524" y="8530844"/>
                    <a:pt x="0" y="7894320"/>
                    <a:pt x="0" y="710907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374382" y="2292363"/>
            <a:ext cx="3890705" cy="6135843"/>
            <a:chOff x="0" y="0"/>
            <a:chExt cx="5187607" cy="8181124"/>
          </a:xfrm>
        </p:grpSpPr>
        <p:sp>
          <p:nvSpPr>
            <p:cNvPr name="Freeform 18" id="18" descr="ceemdan.png"/>
            <p:cNvSpPr/>
            <p:nvPr/>
          </p:nvSpPr>
          <p:spPr>
            <a:xfrm flipH="false" flipV="false" rot="0">
              <a:off x="0" y="0"/>
              <a:ext cx="5187569" cy="8181086"/>
            </a:xfrm>
            <a:custGeom>
              <a:avLst/>
              <a:gdLst/>
              <a:ahLst/>
              <a:cxnLst/>
              <a:rect r="r" b="b" t="t" l="l"/>
              <a:pathLst>
                <a:path h="8181086" w="5187569">
                  <a:moveTo>
                    <a:pt x="0" y="0"/>
                  </a:moveTo>
                  <a:lnTo>
                    <a:pt x="5187569" y="0"/>
                  </a:lnTo>
                  <a:lnTo>
                    <a:pt x="5187569" y="8181086"/>
                  </a:lnTo>
                  <a:lnTo>
                    <a:pt x="0" y="8181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43429" y="8887292"/>
            <a:ext cx="16555955" cy="674132"/>
            <a:chOff x="0" y="0"/>
            <a:chExt cx="22074607" cy="8988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074632" cy="898906"/>
            </a:xfrm>
            <a:custGeom>
              <a:avLst/>
              <a:gdLst/>
              <a:ahLst/>
              <a:cxnLst/>
              <a:rect r="r" b="b" t="t" l="l"/>
              <a:pathLst>
                <a:path h="898906" w="22074632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21924772" y="0"/>
                  </a:lnTo>
                  <a:cubicBezTo>
                    <a:pt x="22007449" y="0"/>
                    <a:pt x="22074632" y="67056"/>
                    <a:pt x="22074632" y="149860"/>
                  </a:cubicBezTo>
                  <a:lnTo>
                    <a:pt x="22074632" y="749046"/>
                  </a:lnTo>
                  <a:cubicBezTo>
                    <a:pt x="22074632" y="831723"/>
                    <a:pt x="22007576" y="898906"/>
                    <a:pt x="21924772" y="898906"/>
                  </a:cubicBezTo>
                  <a:lnTo>
                    <a:pt x="149860" y="898906"/>
                  </a:lnTo>
                  <a:cubicBezTo>
                    <a:pt x="67056" y="898906"/>
                    <a:pt x="0" y="831723"/>
                    <a:pt x="0" y="749046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162164" y="9072963"/>
            <a:ext cx="1368152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TAKEAWAY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17203" y="9041311"/>
            <a:ext cx="14408544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The trend dominates the signal, and CEEMDAN did not improve the reported baseline metrics.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7635" y="9919821"/>
            <a:ext cx="11594563" cy="1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SIGNAL PROCESSING  •  FINAL PROJECT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714546" y="9869110"/>
            <a:ext cx="5857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7635" y="411404"/>
            <a:ext cx="7476544" cy="2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09  •  FORECASTING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635" y="887635"/>
            <a:ext cx="16398916" cy="72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Feature Engineering &amp; LightGBM Model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8510" y="1743294"/>
            <a:ext cx="1029500" cy="75495"/>
            <a:chOff x="0" y="0"/>
            <a:chExt cx="1372667" cy="100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616" cy="100711"/>
            </a:xfrm>
            <a:custGeom>
              <a:avLst/>
              <a:gdLst/>
              <a:ahLst/>
              <a:cxnLst/>
              <a:rect r="r" b="b" t="t" l="l"/>
              <a:pathLst>
                <a:path h="100711" w="1372616">
                  <a:moveTo>
                    <a:pt x="0" y="0"/>
                  </a:moveTo>
                  <a:lnTo>
                    <a:pt x="1372616" y="0"/>
                  </a:lnTo>
                  <a:lnTo>
                    <a:pt x="1372616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42665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987027" y="466306"/>
            <a:ext cx="1368152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10  /  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3429" y="2161194"/>
            <a:ext cx="7221779" cy="6356995"/>
            <a:chOff x="0" y="0"/>
            <a:chExt cx="9629038" cy="84759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29140" cy="8476107"/>
            </a:xfrm>
            <a:custGeom>
              <a:avLst/>
              <a:gdLst/>
              <a:ahLst/>
              <a:cxnLst/>
              <a:rect r="r" b="b" t="t" l="l"/>
              <a:pathLst>
                <a:path h="8476107" w="9629140">
                  <a:moveTo>
                    <a:pt x="0" y="1412748"/>
                  </a:moveTo>
                  <a:cubicBezTo>
                    <a:pt x="0" y="632460"/>
                    <a:pt x="632460" y="0"/>
                    <a:pt x="1412748" y="0"/>
                  </a:cubicBezTo>
                  <a:lnTo>
                    <a:pt x="8216392" y="0"/>
                  </a:lnTo>
                  <a:cubicBezTo>
                    <a:pt x="8996553" y="0"/>
                    <a:pt x="9629140" y="632460"/>
                    <a:pt x="9629140" y="1412748"/>
                  </a:cubicBezTo>
                  <a:lnTo>
                    <a:pt x="9629140" y="7063359"/>
                  </a:lnTo>
                  <a:cubicBezTo>
                    <a:pt x="9629140" y="7843520"/>
                    <a:pt x="8996680" y="8476107"/>
                    <a:pt x="8216392" y="8476107"/>
                  </a:cubicBezTo>
                  <a:lnTo>
                    <a:pt x="1412748" y="8476107"/>
                  </a:lnTo>
                  <a:cubicBezTo>
                    <a:pt x="632460" y="8475980"/>
                    <a:pt x="0" y="7843520"/>
                    <a:pt x="0" y="706335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99439" y="2603478"/>
            <a:ext cx="2946730" cy="242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INPUT FEATURES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55233" y="3122066"/>
            <a:ext cx="619230" cy="619230"/>
            <a:chOff x="0" y="0"/>
            <a:chExt cx="825640" cy="825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5754" cy="825754"/>
            </a:xfrm>
            <a:custGeom>
              <a:avLst/>
              <a:gdLst/>
              <a:ahLst/>
              <a:cxnLst/>
              <a:rect r="r" b="b" t="t" l="l"/>
              <a:pathLst>
                <a:path h="825754" w="825754">
                  <a:moveTo>
                    <a:pt x="0" y="137668"/>
                  </a:moveTo>
                  <a:cubicBezTo>
                    <a:pt x="0" y="61595"/>
                    <a:pt x="61595" y="0"/>
                    <a:pt x="137668" y="0"/>
                  </a:cubicBezTo>
                  <a:lnTo>
                    <a:pt x="688086" y="0"/>
                  </a:lnTo>
                  <a:cubicBezTo>
                    <a:pt x="764032" y="0"/>
                    <a:pt x="825754" y="61595"/>
                    <a:pt x="825754" y="137668"/>
                  </a:cubicBezTo>
                  <a:lnTo>
                    <a:pt x="825754" y="688086"/>
                  </a:lnTo>
                  <a:cubicBezTo>
                    <a:pt x="825754" y="764032"/>
                    <a:pt x="764159" y="825754"/>
                    <a:pt x="688086" y="825754"/>
                  </a:cubicBezTo>
                  <a:lnTo>
                    <a:pt x="137668" y="825754"/>
                  </a:lnTo>
                  <a:cubicBezTo>
                    <a:pt x="61595" y="825627"/>
                    <a:pt x="0" y="764032"/>
                    <a:pt x="0" y="688086"/>
                  </a:cubicBezTo>
                  <a:close/>
                </a:path>
              </a:pathLst>
            </a:custGeom>
            <a:solidFill>
              <a:srgbClr val="DCE9DD"/>
            </a:solidFill>
            <a:ln w="15252" cap="sq">
              <a:solidFill>
                <a:srgbClr val="DCE9D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299439" y="3330988"/>
            <a:ext cx="530828" cy="16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64223" y="3152546"/>
            <a:ext cx="2260387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Recent history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60497" y="3138811"/>
            <a:ext cx="3083995" cy="54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Lagged soil-moisture observations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55233" y="4247655"/>
            <a:ext cx="619230" cy="619230"/>
            <a:chOff x="0" y="0"/>
            <a:chExt cx="825640" cy="825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5754" cy="825754"/>
            </a:xfrm>
            <a:custGeom>
              <a:avLst/>
              <a:gdLst/>
              <a:ahLst/>
              <a:cxnLst/>
              <a:rect r="r" b="b" t="t" l="l"/>
              <a:pathLst>
                <a:path h="825754" w="825754">
                  <a:moveTo>
                    <a:pt x="0" y="137668"/>
                  </a:moveTo>
                  <a:cubicBezTo>
                    <a:pt x="0" y="61595"/>
                    <a:pt x="61595" y="0"/>
                    <a:pt x="137668" y="0"/>
                  </a:cubicBezTo>
                  <a:lnTo>
                    <a:pt x="688086" y="0"/>
                  </a:lnTo>
                  <a:cubicBezTo>
                    <a:pt x="764032" y="0"/>
                    <a:pt x="825754" y="61595"/>
                    <a:pt x="825754" y="137668"/>
                  </a:cubicBezTo>
                  <a:lnTo>
                    <a:pt x="825754" y="688086"/>
                  </a:lnTo>
                  <a:cubicBezTo>
                    <a:pt x="825754" y="764032"/>
                    <a:pt x="764159" y="825754"/>
                    <a:pt x="688086" y="825754"/>
                  </a:cubicBezTo>
                  <a:lnTo>
                    <a:pt x="137668" y="825754"/>
                  </a:lnTo>
                  <a:cubicBezTo>
                    <a:pt x="61595" y="825627"/>
                    <a:pt x="0" y="764032"/>
                    <a:pt x="0" y="688086"/>
                  </a:cubicBezTo>
                  <a:close/>
                </a:path>
              </a:pathLst>
            </a:custGeom>
            <a:solidFill>
              <a:srgbClr val="E3ECF8"/>
            </a:solidFill>
            <a:ln w="15252" cap="sq">
              <a:solidFill>
                <a:srgbClr val="E3ECF8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99439" y="4456586"/>
            <a:ext cx="530828" cy="16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64223" y="4278135"/>
            <a:ext cx="2260387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Signal features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60497" y="4264409"/>
            <a:ext cx="3083995" cy="54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Selected/reconstructed CEEMDAN components and lags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55233" y="5373253"/>
            <a:ext cx="619230" cy="619230"/>
            <a:chOff x="0" y="0"/>
            <a:chExt cx="825640" cy="825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5754" cy="825754"/>
            </a:xfrm>
            <a:custGeom>
              <a:avLst/>
              <a:gdLst/>
              <a:ahLst/>
              <a:cxnLst/>
              <a:rect r="r" b="b" t="t" l="l"/>
              <a:pathLst>
                <a:path h="825754" w="825754">
                  <a:moveTo>
                    <a:pt x="0" y="137668"/>
                  </a:moveTo>
                  <a:cubicBezTo>
                    <a:pt x="0" y="61595"/>
                    <a:pt x="61595" y="0"/>
                    <a:pt x="137668" y="0"/>
                  </a:cubicBezTo>
                  <a:lnTo>
                    <a:pt x="688086" y="0"/>
                  </a:lnTo>
                  <a:cubicBezTo>
                    <a:pt x="764032" y="0"/>
                    <a:pt x="825754" y="61595"/>
                    <a:pt x="825754" y="137668"/>
                  </a:cubicBezTo>
                  <a:lnTo>
                    <a:pt x="825754" y="688086"/>
                  </a:lnTo>
                  <a:cubicBezTo>
                    <a:pt x="825754" y="764032"/>
                    <a:pt x="764159" y="825754"/>
                    <a:pt x="688086" y="825754"/>
                  </a:cubicBezTo>
                  <a:lnTo>
                    <a:pt x="137668" y="825754"/>
                  </a:lnTo>
                  <a:cubicBezTo>
                    <a:pt x="61595" y="825627"/>
                    <a:pt x="0" y="764032"/>
                    <a:pt x="0" y="688086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299439" y="5582174"/>
            <a:ext cx="530828" cy="16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64223" y="5403723"/>
            <a:ext cx="2260387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Weather context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60497" y="5389997"/>
            <a:ext cx="3083995" cy="54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Temperature, humidity and rainfall-related variables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55233" y="6498841"/>
            <a:ext cx="619230" cy="619230"/>
            <a:chOff x="0" y="0"/>
            <a:chExt cx="825640" cy="825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5754" cy="825754"/>
            </a:xfrm>
            <a:custGeom>
              <a:avLst/>
              <a:gdLst/>
              <a:ahLst/>
              <a:cxnLst/>
              <a:rect r="r" b="b" t="t" l="l"/>
              <a:pathLst>
                <a:path h="825754" w="825754">
                  <a:moveTo>
                    <a:pt x="0" y="137668"/>
                  </a:moveTo>
                  <a:cubicBezTo>
                    <a:pt x="0" y="61595"/>
                    <a:pt x="61595" y="0"/>
                    <a:pt x="137668" y="0"/>
                  </a:cubicBezTo>
                  <a:lnTo>
                    <a:pt x="688086" y="0"/>
                  </a:lnTo>
                  <a:cubicBezTo>
                    <a:pt x="764032" y="0"/>
                    <a:pt x="825754" y="61595"/>
                    <a:pt x="825754" y="137668"/>
                  </a:cubicBezTo>
                  <a:lnTo>
                    <a:pt x="825754" y="688086"/>
                  </a:lnTo>
                  <a:cubicBezTo>
                    <a:pt x="825754" y="764032"/>
                    <a:pt x="764159" y="825754"/>
                    <a:pt x="688086" y="825754"/>
                  </a:cubicBezTo>
                  <a:lnTo>
                    <a:pt x="137668" y="825754"/>
                  </a:lnTo>
                  <a:cubicBezTo>
                    <a:pt x="61595" y="825627"/>
                    <a:pt x="0" y="764032"/>
                    <a:pt x="0" y="688086"/>
                  </a:cubicBezTo>
                  <a:close/>
                </a:path>
              </a:pathLst>
            </a:custGeom>
            <a:solidFill>
              <a:srgbClr val="F0F2EB"/>
            </a:solidFill>
            <a:ln w="15252" cap="sq">
              <a:solidFill>
                <a:srgbClr val="F0F2EB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299439" y="6707762"/>
            <a:ext cx="530828" cy="16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164223" y="6529321"/>
            <a:ext cx="2260387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Time context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360497" y="6515586"/>
            <a:ext cx="3083995" cy="54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Hourly time-series alignment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475488" y="2161194"/>
            <a:ext cx="8923896" cy="6356995"/>
            <a:chOff x="0" y="0"/>
            <a:chExt cx="11898528" cy="847599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898630" cy="8476107"/>
            </a:xfrm>
            <a:custGeom>
              <a:avLst/>
              <a:gdLst/>
              <a:ahLst/>
              <a:cxnLst/>
              <a:rect r="r" b="b" t="t" l="l"/>
              <a:pathLst>
                <a:path h="8476107" w="11898630">
                  <a:moveTo>
                    <a:pt x="0" y="1412748"/>
                  </a:moveTo>
                  <a:cubicBezTo>
                    <a:pt x="0" y="632460"/>
                    <a:pt x="632460" y="0"/>
                    <a:pt x="1412748" y="0"/>
                  </a:cubicBezTo>
                  <a:lnTo>
                    <a:pt x="10485882" y="0"/>
                  </a:lnTo>
                  <a:cubicBezTo>
                    <a:pt x="11266043" y="0"/>
                    <a:pt x="11898630" y="632460"/>
                    <a:pt x="11898630" y="1412748"/>
                  </a:cubicBezTo>
                  <a:lnTo>
                    <a:pt x="11898630" y="7063359"/>
                  </a:lnTo>
                  <a:cubicBezTo>
                    <a:pt x="11898630" y="7843520"/>
                    <a:pt x="11266170" y="8476107"/>
                    <a:pt x="10485882" y="8476107"/>
                  </a:cubicBezTo>
                  <a:lnTo>
                    <a:pt x="1412748" y="8476107"/>
                  </a:lnTo>
                  <a:cubicBezTo>
                    <a:pt x="632460" y="8475980"/>
                    <a:pt x="0" y="7843520"/>
                    <a:pt x="0" y="7063359"/>
                  </a:cubicBezTo>
                  <a:close/>
                </a:path>
              </a:pathLst>
            </a:custGeom>
            <a:solidFill>
              <a:srgbClr val="E3ECF8"/>
            </a:solidFill>
            <a:ln w="15252" cap="sq">
              <a:solidFill>
                <a:srgbClr val="E3ECF8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8986399" y="2603478"/>
            <a:ext cx="4319397" cy="242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56B97"/>
                </a:solidFill>
                <a:latin typeface="Aptos Bold"/>
                <a:ea typeface="Aptos Bold"/>
                <a:cs typeface="Aptos Bold"/>
                <a:sym typeface="Aptos Bold"/>
              </a:rPr>
              <a:t>LIGHTGBM REGRESSION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983380" y="3218155"/>
            <a:ext cx="7839485" cy="1003573"/>
            <a:chOff x="0" y="0"/>
            <a:chExt cx="10452646" cy="133809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52608" cy="1338072"/>
            </a:xfrm>
            <a:custGeom>
              <a:avLst/>
              <a:gdLst/>
              <a:ahLst/>
              <a:cxnLst/>
              <a:rect r="r" b="b" t="t" l="l"/>
              <a:pathLst>
                <a:path h="1338072" w="10452608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10229596" y="0"/>
                  </a:lnTo>
                  <a:cubicBezTo>
                    <a:pt x="10352786" y="0"/>
                    <a:pt x="10452608" y="99822"/>
                    <a:pt x="10452608" y="223012"/>
                  </a:cubicBezTo>
                  <a:lnTo>
                    <a:pt x="10452608" y="1115060"/>
                  </a:lnTo>
                  <a:cubicBezTo>
                    <a:pt x="10452608" y="1238250"/>
                    <a:pt x="10352786" y="1338072"/>
                    <a:pt x="10229596" y="1338072"/>
                  </a:cubicBezTo>
                  <a:lnTo>
                    <a:pt x="223012" y="1338072"/>
                  </a:lnTo>
                  <a:cubicBezTo>
                    <a:pt x="99822" y="1338072"/>
                    <a:pt x="0" y="1238250"/>
                    <a:pt x="0" y="111506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9370752" y="3431276"/>
            <a:ext cx="2534926" cy="265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Feature matrix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84723" y="3481988"/>
            <a:ext cx="4113495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Past observations</a:t>
            </a:r>
          </a:p>
        </p:txBody>
      </p:sp>
      <p:sp>
        <p:nvSpPr>
          <p:cNvPr name="AutoShape 37" id="37"/>
          <p:cNvSpPr/>
          <p:nvPr/>
        </p:nvSpPr>
        <p:spPr>
          <a:xfrm rot="5147700">
            <a:off x="12695139" y="4424210"/>
            <a:ext cx="415976" cy="0"/>
          </a:xfrm>
          <a:prstGeom prst="line">
            <a:avLst/>
          </a:prstGeom>
          <a:ln cap="rnd" w="19050">
            <a:solidFill>
              <a:srgbClr val="456B9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8983380" y="4659459"/>
            <a:ext cx="7839485" cy="1003573"/>
            <a:chOff x="0" y="0"/>
            <a:chExt cx="10452646" cy="133809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52608" cy="1338072"/>
            </a:xfrm>
            <a:custGeom>
              <a:avLst/>
              <a:gdLst/>
              <a:ahLst/>
              <a:cxnLst/>
              <a:rect r="r" b="b" t="t" l="l"/>
              <a:pathLst>
                <a:path h="1338072" w="10452608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10229596" y="0"/>
                  </a:lnTo>
                  <a:cubicBezTo>
                    <a:pt x="10352786" y="0"/>
                    <a:pt x="10452608" y="99822"/>
                    <a:pt x="10452608" y="223012"/>
                  </a:cubicBezTo>
                  <a:lnTo>
                    <a:pt x="10452608" y="1115060"/>
                  </a:lnTo>
                  <a:cubicBezTo>
                    <a:pt x="10452608" y="1238250"/>
                    <a:pt x="10352786" y="1338072"/>
                    <a:pt x="10229596" y="1338072"/>
                  </a:cubicBezTo>
                  <a:lnTo>
                    <a:pt x="223012" y="1338072"/>
                  </a:lnTo>
                  <a:cubicBezTo>
                    <a:pt x="99822" y="1338072"/>
                    <a:pt x="0" y="1238250"/>
                    <a:pt x="0" y="111506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9370752" y="4872580"/>
            <a:ext cx="2534926" cy="265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Boosted trees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184723" y="4923292"/>
            <a:ext cx="4113495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Learn non-linear patterns</a:t>
            </a:r>
          </a:p>
        </p:txBody>
      </p:sp>
      <p:sp>
        <p:nvSpPr>
          <p:cNvPr name="AutoShape 42" id="42"/>
          <p:cNvSpPr/>
          <p:nvPr/>
        </p:nvSpPr>
        <p:spPr>
          <a:xfrm rot="5147700">
            <a:off x="12695139" y="5865514"/>
            <a:ext cx="415976" cy="0"/>
          </a:xfrm>
          <a:prstGeom prst="line">
            <a:avLst/>
          </a:prstGeom>
          <a:ln cap="rnd" w="19050">
            <a:solidFill>
              <a:srgbClr val="456B9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8983380" y="6100762"/>
            <a:ext cx="7839485" cy="1003573"/>
            <a:chOff x="0" y="0"/>
            <a:chExt cx="10452646" cy="133809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452608" cy="1338072"/>
            </a:xfrm>
            <a:custGeom>
              <a:avLst/>
              <a:gdLst/>
              <a:ahLst/>
              <a:cxnLst/>
              <a:rect r="r" b="b" t="t" l="l"/>
              <a:pathLst>
                <a:path h="1338072" w="10452608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10229596" y="0"/>
                  </a:lnTo>
                  <a:cubicBezTo>
                    <a:pt x="10352786" y="0"/>
                    <a:pt x="10452608" y="99822"/>
                    <a:pt x="10452608" y="223012"/>
                  </a:cubicBezTo>
                  <a:lnTo>
                    <a:pt x="10452608" y="1115060"/>
                  </a:lnTo>
                  <a:cubicBezTo>
                    <a:pt x="10452608" y="1238250"/>
                    <a:pt x="10352786" y="1338072"/>
                    <a:pt x="10229596" y="1338072"/>
                  </a:cubicBezTo>
                  <a:lnTo>
                    <a:pt x="223012" y="1338072"/>
                  </a:lnTo>
                  <a:cubicBezTo>
                    <a:pt x="99822" y="1338072"/>
                    <a:pt x="0" y="1238250"/>
                    <a:pt x="0" y="111506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9370752" y="6313894"/>
            <a:ext cx="2534926" cy="265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Forecast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184723" y="6364595"/>
            <a:ext cx="4113495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Soil moisture at t + 24 h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027576" y="7888262"/>
            <a:ext cx="7545181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456B97"/>
                </a:solidFill>
                <a:latin typeface="Aptos Bold"/>
                <a:ea typeface="Aptos Bold"/>
                <a:cs typeface="Aptos Bold"/>
                <a:sym typeface="Aptos Bold"/>
              </a:rPr>
              <a:t>Training / validation / test split: 70% / 15% / 15% in chronological order.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843429" y="8887292"/>
            <a:ext cx="16555955" cy="674132"/>
            <a:chOff x="0" y="0"/>
            <a:chExt cx="22074607" cy="89884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074632" cy="898906"/>
            </a:xfrm>
            <a:custGeom>
              <a:avLst/>
              <a:gdLst/>
              <a:ahLst/>
              <a:cxnLst/>
              <a:rect r="r" b="b" t="t" l="l"/>
              <a:pathLst>
                <a:path h="898906" w="22074632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21924772" y="0"/>
                  </a:lnTo>
                  <a:cubicBezTo>
                    <a:pt x="22007449" y="0"/>
                    <a:pt x="22074632" y="67056"/>
                    <a:pt x="22074632" y="149860"/>
                  </a:cubicBezTo>
                  <a:lnTo>
                    <a:pt x="22074632" y="749046"/>
                  </a:lnTo>
                  <a:cubicBezTo>
                    <a:pt x="22074632" y="831723"/>
                    <a:pt x="22007576" y="898906"/>
                    <a:pt x="21924772" y="898906"/>
                  </a:cubicBezTo>
                  <a:lnTo>
                    <a:pt x="149860" y="898906"/>
                  </a:lnTo>
                  <a:cubicBezTo>
                    <a:pt x="67056" y="898906"/>
                    <a:pt x="0" y="831723"/>
                    <a:pt x="0" y="749046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50" id="50"/>
          <p:cNvSpPr txBox="true"/>
          <p:nvPr/>
        </p:nvSpPr>
        <p:spPr>
          <a:xfrm rot="0">
            <a:off x="1162164" y="9072963"/>
            <a:ext cx="1368152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TAKEAWAY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617203" y="9041311"/>
            <a:ext cx="14408544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LightGBM predicts the next-day moisture level from lagged signal and environmental features.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87635" y="9919821"/>
            <a:ext cx="11594563" cy="1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SIGNAL PROCESSING  •  FINAL PROJECT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714546" y="9869110"/>
            <a:ext cx="5857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7635" y="411404"/>
            <a:ext cx="7476544" cy="2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10  •  RESULTS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635" y="887635"/>
            <a:ext cx="16398916" cy="72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Prediction Performance &amp; Baseline Comparison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8510" y="1743294"/>
            <a:ext cx="1029500" cy="75495"/>
            <a:chOff x="0" y="0"/>
            <a:chExt cx="1372667" cy="100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616" cy="100711"/>
            </a:xfrm>
            <a:custGeom>
              <a:avLst/>
              <a:gdLst/>
              <a:ahLst/>
              <a:cxnLst/>
              <a:rect r="r" b="b" t="t" l="l"/>
              <a:pathLst>
                <a:path h="100711" w="1372616">
                  <a:moveTo>
                    <a:pt x="0" y="0"/>
                  </a:moveTo>
                  <a:lnTo>
                    <a:pt x="1372616" y="0"/>
                  </a:lnTo>
                  <a:lnTo>
                    <a:pt x="1372616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42665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987027" y="466306"/>
            <a:ext cx="1368152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11  /  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3429" y="2120017"/>
            <a:ext cx="9898494" cy="4819602"/>
            <a:chOff x="0" y="0"/>
            <a:chExt cx="13197992" cy="64261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197967" cy="6426073"/>
            </a:xfrm>
            <a:custGeom>
              <a:avLst/>
              <a:gdLst/>
              <a:ahLst/>
              <a:cxnLst/>
              <a:rect r="r" b="b" t="t" l="l"/>
              <a:pathLst>
                <a:path h="6426073" w="13197967">
                  <a:moveTo>
                    <a:pt x="0" y="1070991"/>
                  </a:moveTo>
                  <a:cubicBezTo>
                    <a:pt x="0" y="479552"/>
                    <a:pt x="479552" y="0"/>
                    <a:pt x="1070991" y="0"/>
                  </a:cubicBezTo>
                  <a:lnTo>
                    <a:pt x="12126976" y="0"/>
                  </a:lnTo>
                  <a:cubicBezTo>
                    <a:pt x="12718542" y="0"/>
                    <a:pt x="13197967" y="479552"/>
                    <a:pt x="13197967" y="1070991"/>
                  </a:cubicBezTo>
                  <a:lnTo>
                    <a:pt x="13197967" y="5355082"/>
                  </a:lnTo>
                  <a:cubicBezTo>
                    <a:pt x="13197967" y="5946648"/>
                    <a:pt x="12718415" y="6426073"/>
                    <a:pt x="12126976" y="6426073"/>
                  </a:cubicBezTo>
                  <a:lnTo>
                    <a:pt x="1070991" y="6426073"/>
                  </a:lnTo>
                  <a:cubicBezTo>
                    <a:pt x="479552" y="6426200"/>
                    <a:pt x="0" y="5946648"/>
                    <a:pt x="0" y="535508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74598" y="2613193"/>
            <a:ext cx="9636157" cy="3833251"/>
            <a:chOff x="0" y="0"/>
            <a:chExt cx="12848209" cy="5111001"/>
          </a:xfrm>
        </p:grpSpPr>
        <p:sp>
          <p:nvSpPr>
            <p:cNvPr name="Freeform 10" id="10" descr="prediction.png"/>
            <p:cNvSpPr/>
            <p:nvPr/>
          </p:nvSpPr>
          <p:spPr>
            <a:xfrm flipH="false" flipV="false" rot="0">
              <a:off x="0" y="0"/>
              <a:ext cx="12848209" cy="5110988"/>
            </a:xfrm>
            <a:custGeom>
              <a:avLst/>
              <a:gdLst/>
              <a:ahLst/>
              <a:cxnLst/>
              <a:rect r="r" b="b" t="t" l="l"/>
              <a:pathLst>
                <a:path h="5110988" w="12848209">
                  <a:moveTo>
                    <a:pt x="0" y="0"/>
                  </a:moveTo>
                  <a:lnTo>
                    <a:pt x="12848209" y="0"/>
                  </a:lnTo>
                  <a:lnTo>
                    <a:pt x="12848209" y="5110988"/>
                  </a:lnTo>
                  <a:lnTo>
                    <a:pt x="0" y="5110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042390" y="2120017"/>
            <a:ext cx="6356995" cy="4819602"/>
            <a:chOff x="0" y="0"/>
            <a:chExt cx="8475993" cy="64261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475980" cy="6426073"/>
            </a:xfrm>
            <a:custGeom>
              <a:avLst/>
              <a:gdLst/>
              <a:ahLst/>
              <a:cxnLst/>
              <a:rect r="r" b="b" t="t" l="l"/>
              <a:pathLst>
                <a:path h="6426073" w="8475980">
                  <a:moveTo>
                    <a:pt x="0" y="1070991"/>
                  </a:moveTo>
                  <a:cubicBezTo>
                    <a:pt x="0" y="479552"/>
                    <a:pt x="479552" y="0"/>
                    <a:pt x="1070991" y="0"/>
                  </a:cubicBezTo>
                  <a:lnTo>
                    <a:pt x="7404989" y="0"/>
                  </a:lnTo>
                  <a:cubicBezTo>
                    <a:pt x="7996555" y="0"/>
                    <a:pt x="8475980" y="479552"/>
                    <a:pt x="8475980" y="1070991"/>
                  </a:cubicBezTo>
                  <a:lnTo>
                    <a:pt x="8475980" y="5355082"/>
                  </a:lnTo>
                  <a:cubicBezTo>
                    <a:pt x="8475980" y="5946648"/>
                    <a:pt x="7996428" y="6426073"/>
                    <a:pt x="7404989" y="6426073"/>
                  </a:cubicBezTo>
                  <a:lnTo>
                    <a:pt x="1070991" y="6426073"/>
                  </a:lnTo>
                  <a:cubicBezTo>
                    <a:pt x="479552" y="6426200"/>
                    <a:pt x="0" y="5946648"/>
                    <a:pt x="0" y="535508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1498390" y="2548566"/>
            <a:ext cx="5005740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TEST PERFORMANCE SUMMARY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98390" y="3125086"/>
            <a:ext cx="2329024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Test MAE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43733" y="3125086"/>
            <a:ext cx="2191760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82"/>
              </a:lnSpc>
            </a:pPr>
            <a:r>
              <a:rPr lang="en-US" sz="24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9.69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98390" y="3852605"/>
            <a:ext cx="2329024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Test RMSE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43733" y="3852605"/>
            <a:ext cx="2191760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82"/>
              </a:lnSpc>
            </a:pPr>
            <a:r>
              <a:rPr lang="en-US" sz="24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13.90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98390" y="4580125"/>
            <a:ext cx="2329024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Test R²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43733" y="4580125"/>
            <a:ext cx="2191760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82"/>
              </a:lnSpc>
            </a:pPr>
            <a:r>
              <a:rPr lang="en-US" sz="24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0.785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98390" y="5307635"/>
            <a:ext cx="2329024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Train MAE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43733" y="5307635"/>
            <a:ext cx="2191760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82"/>
              </a:lnSpc>
            </a:pPr>
            <a:r>
              <a:rPr lang="en-US" sz="24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0.24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98390" y="6186145"/>
            <a:ext cx="5005740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Large train–test gap indicates overfitting.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43429" y="7061635"/>
            <a:ext cx="9898494" cy="1868357"/>
            <a:chOff x="0" y="0"/>
            <a:chExt cx="13197992" cy="24911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197967" cy="2491105"/>
            </a:xfrm>
            <a:custGeom>
              <a:avLst/>
              <a:gdLst/>
              <a:ahLst/>
              <a:cxnLst/>
              <a:rect r="r" b="b" t="t" l="l"/>
              <a:pathLst>
                <a:path h="2491105" w="13197967">
                  <a:moveTo>
                    <a:pt x="0" y="415163"/>
                  </a:moveTo>
                  <a:cubicBezTo>
                    <a:pt x="0" y="185928"/>
                    <a:pt x="185928" y="0"/>
                    <a:pt x="415163" y="0"/>
                  </a:cubicBezTo>
                  <a:lnTo>
                    <a:pt x="12782804" y="0"/>
                  </a:lnTo>
                  <a:cubicBezTo>
                    <a:pt x="13012167" y="0"/>
                    <a:pt x="13197967" y="185928"/>
                    <a:pt x="13197967" y="415163"/>
                  </a:cubicBezTo>
                  <a:lnTo>
                    <a:pt x="13197967" y="2075942"/>
                  </a:lnTo>
                  <a:cubicBezTo>
                    <a:pt x="13197967" y="2305304"/>
                    <a:pt x="13012040" y="2491105"/>
                    <a:pt x="12782804" y="2491105"/>
                  </a:cubicBezTo>
                  <a:lnTo>
                    <a:pt x="415163" y="2491105"/>
                  </a:lnTo>
                  <a:cubicBezTo>
                    <a:pt x="185928" y="2491105"/>
                    <a:pt x="0" y="2305304"/>
                    <a:pt x="0" y="207594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4016969" y="7192804"/>
            <a:ext cx="3551415" cy="1606029"/>
            <a:chOff x="0" y="0"/>
            <a:chExt cx="4735220" cy="2141372"/>
          </a:xfrm>
        </p:grpSpPr>
        <p:sp>
          <p:nvSpPr>
            <p:cNvPr name="Freeform 26" id="26" descr="baseline_comparison.png"/>
            <p:cNvSpPr/>
            <p:nvPr/>
          </p:nvSpPr>
          <p:spPr>
            <a:xfrm flipH="false" flipV="false" rot="0">
              <a:off x="0" y="0"/>
              <a:ext cx="4735195" cy="2141347"/>
            </a:xfrm>
            <a:custGeom>
              <a:avLst/>
              <a:gdLst/>
              <a:ahLst/>
              <a:cxnLst/>
              <a:rect r="r" b="b" t="t" l="l"/>
              <a:pathLst>
                <a:path h="2141347" w="4735195">
                  <a:moveTo>
                    <a:pt x="0" y="0"/>
                  </a:moveTo>
                  <a:lnTo>
                    <a:pt x="4735195" y="0"/>
                  </a:lnTo>
                  <a:lnTo>
                    <a:pt x="4735195" y="2141347"/>
                  </a:lnTo>
                  <a:lnTo>
                    <a:pt x="0" y="2141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042390" y="7061635"/>
            <a:ext cx="6356995" cy="1868357"/>
            <a:chOff x="0" y="0"/>
            <a:chExt cx="8475993" cy="249114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475980" cy="2491105"/>
            </a:xfrm>
            <a:custGeom>
              <a:avLst/>
              <a:gdLst/>
              <a:ahLst/>
              <a:cxnLst/>
              <a:rect r="r" b="b" t="t" l="l"/>
              <a:pathLst>
                <a:path h="2491105" w="8475980">
                  <a:moveTo>
                    <a:pt x="0" y="415163"/>
                  </a:moveTo>
                  <a:cubicBezTo>
                    <a:pt x="0" y="185928"/>
                    <a:pt x="185928" y="0"/>
                    <a:pt x="415163" y="0"/>
                  </a:cubicBezTo>
                  <a:lnTo>
                    <a:pt x="8060817" y="0"/>
                  </a:lnTo>
                  <a:cubicBezTo>
                    <a:pt x="8290179" y="0"/>
                    <a:pt x="8475980" y="185928"/>
                    <a:pt x="8475980" y="415163"/>
                  </a:cubicBezTo>
                  <a:lnTo>
                    <a:pt x="8475980" y="2075942"/>
                  </a:lnTo>
                  <a:cubicBezTo>
                    <a:pt x="8475980" y="2305304"/>
                    <a:pt x="8290052" y="2491105"/>
                    <a:pt x="8060817" y="2491105"/>
                  </a:cubicBezTo>
                  <a:lnTo>
                    <a:pt x="415163" y="2491105"/>
                  </a:lnTo>
                  <a:cubicBezTo>
                    <a:pt x="185928" y="2491105"/>
                    <a:pt x="0" y="2305304"/>
                    <a:pt x="0" y="2075942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1457213" y="7394096"/>
            <a:ext cx="2946730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KEY COMPARISON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57213" y="7833350"/>
            <a:ext cx="5348907" cy="585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Best MAE: persistence (5.03)</a:t>
            </a:r>
          </a:p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Best RMSE: LightGBM + Hampel (12.65)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4900" y="9068762"/>
            <a:ext cx="16193014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i="true">
                <a:solidFill>
                  <a:srgbClr val="68756E"/>
                </a:solidFill>
                <a:latin typeface="Aptos Italics"/>
                <a:ea typeface="Aptos Italics"/>
                <a:cs typeface="Aptos Italics"/>
                <a:sym typeface="Aptos Italics"/>
              </a:rPr>
              <a:t>*Full-series CEEMDAN uses future data; its score is not a clean estimate. The report contains slightly different model-summary values across outputs—use the common-split table for baseline comparison.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87635" y="9919821"/>
            <a:ext cx="11594563" cy="1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SIGNAL PROCESSING  •  FINAL PROJECT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714546" y="9869110"/>
            <a:ext cx="5857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7635" y="411404"/>
            <a:ext cx="7476544" cy="2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11  •  FAILURE MODES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635" y="887635"/>
            <a:ext cx="16398916" cy="72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Robustness Testing &amp; Error Analysis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8510" y="1743294"/>
            <a:ext cx="1029500" cy="75495"/>
            <a:chOff x="0" y="0"/>
            <a:chExt cx="1372667" cy="100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616" cy="100711"/>
            </a:xfrm>
            <a:custGeom>
              <a:avLst/>
              <a:gdLst/>
              <a:ahLst/>
              <a:cxnLst/>
              <a:rect r="r" b="b" t="t" l="l"/>
              <a:pathLst>
                <a:path h="100711" w="1372616">
                  <a:moveTo>
                    <a:pt x="0" y="0"/>
                  </a:moveTo>
                  <a:lnTo>
                    <a:pt x="1372616" y="0"/>
                  </a:lnTo>
                  <a:lnTo>
                    <a:pt x="1372616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42665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987027" y="466306"/>
            <a:ext cx="1368152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12  /  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3429" y="2161194"/>
            <a:ext cx="9967131" cy="4613700"/>
            <a:chOff x="0" y="0"/>
            <a:chExt cx="13289509" cy="61516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289535" cy="6151626"/>
            </a:xfrm>
            <a:custGeom>
              <a:avLst/>
              <a:gdLst/>
              <a:ahLst/>
              <a:cxnLst/>
              <a:rect r="r" b="b" t="t" l="l"/>
              <a:pathLst>
                <a:path h="6151626" w="13289535">
                  <a:moveTo>
                    <a:pt x="0" y="1025271"/>
                  </a:moveTo>
                  <a:cubicBezTo>
                    <a:pt x="0" y="458978"/>
                    <a:pt x="458978" y="0"/>
                    <a:pt x="1025271" y="0"/>
                  </a:cubicBezTo>
                  <a:lnTo>
                    <a:pt x="12264263" y="0"/>
                  </a:lnTo>
                  <a:cubicBezTo>
                    <a:pt x="12830556" y="0"/>
                    <a:pt x="13289535" y="458978"/>
                    <a:pt x="13289535" y="1025271"/>
                  </a:cubicBezTo>
                  <a:lnTo>
                    <a:pt x="13289535" y="5126355"/>
                  </a:lnTo>
                  <a:cubicBezTo>
                    <a:pt x="13289535" y="5692648"/>
                    <a:pt x="12830556" y="6151626"/>
                    <a:pt x="12264263" y="6151626"/>
                  </a:cubicBezTo>
                  <a:lnTo>
                    <a:pt x="1025271" y="6151626"/>
                  </a:lnTo>
                  <a:cubicBezTo>
                    <a:pt x="458978" y="6151626"/>
                    <a:pt x="0" y="5692521"/>
                    <a:pt x="0" y="512635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74598" y="2326853"/>
            <a:ext cx="9704794" cy="4282392"/>
            <a:chOff x="0" y="0"/>
            <a:chExt cx="12939725" cy="5709856"/>
          </a:xfrm>
        </p:grpSpPr>
        <p:sp>
          <p:nvSpPr>
            <p:cNvPr name="Freeform 10" id="10" descr="robustness.png"/>
            <p:cNvSpPr/>
            <p:nvPr/>
          </p:nvSpPr>
          <p:spPr>
            <a:xfrm flipH="false" flipV="false" rot="0">
              <a:off x="0" y="0"/>
              <a:ext cx="12939776" cy="5709920"/>
            </a:xfrm>
            <a:custGeom>
              <a:avLst/>
              <a:gdLst/>
              <a:ahLst/>
              <a:cxnLst/>
              <a:rect r="r" b="b" t="t" l="l"/>
              <a:pathLst>
                <a:path h="5709920" w="12939776">
                  <a:moveTo>
                    <a:pt x="0" y="0"/>
                  </a:moveTo>
                  <a:lnTo>
                    <a:pt x="12939776" y="0"/>
                  </a:lnTo>
                  <a:lnTo>
                    <a:pt x="12939776" y="5709920"/>
                  </a:lnTo>
                  <a:lnTo>
                    <a:pt x="0" y="5709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083566" y="2161194"/>
            <a:ext cx="6315818" cy="4613700"/>
            <a:chOff x="0" y="0"/>
            <a:chExt cx="8421091" cy="6151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421115" cy="6151626"/>
            </a:xfrm>
            <a:custGeom>
              <a:avLst/>
              <a:gdLst/>
              <a:ahLst/>
              <a:cxnLst/>
              <a:rect r="r" b="b" t="t" l="l"/>
              <a:pathLst>
                <a:path h="6151626" w="8421115">
                  <a:moveTo>
                    <a:pt x="0" y="1025271"/>
                  </a:moveTo>
                  <a:cubicBezTo>
                    <a:pt x="0" y="458978"/>
                    <a:pt x="458978" y="0"/>
                    <a:pt x="1025271" y="0"/>
                  </a:cubicBezTo>
                  <a:lnTo>
                    <a:pt x="7395845" y="0"/>
                  </a:lnTo>
                  <a:cubicBezTo>
                    <a:pt x="7962138" y="0"/>
                    <a:pt x="8421115" y="458978"/>
                    <a:pt x="8421115" y="1025271"/>
                  </a:cubicBezTo>
                  <a:lnTo>
                    <a:pt x="8421115" y="5126355"/>
                  </a:lnTo>
                  <a:cubicBezTo>
                    <a:pt x="8421115" y="5692648"/>
                    <a:pt x="7962138" y="6151626"/>
                    <a:pt x="7395845" y="6151626"/>
                  </a:cubicBezTo>
                  <a:lnTo>
                    <a:pt x="1025271" y="6151626"/>
                  </a:lnTo>
                  <a:cubicBezTo>
                    <a:pt x="458978" y="6151626"/>
                    <a:pt x="0" y="5692521"/>
                    <a:pt x="0" y="512635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1539566" y="2589743"/>
            <a:ext cx="4456671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WHAT THE TESTS SHOW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57854" y="3166272"/>
            <a:ext cx="5124717" cy="296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Injected spikes: Hampel improves LightGBM MAE (9.39 → 7.37 at 10% spikes).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Random noise: Hampel worsens the reported MAE.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Large moisture jumps are difficult for both models.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43429" y="7061635"/>
            <a:ext cx="16555955" cy="1387926"/>
            <a:chOff x="0" y="0"/>
            <a:chExt cx="22074607" cy="18505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074632" cy="1850644"/>
            </a:xfrm>
            <a:custGeom>
              <a:avLst/>
              <a:gdLst/>
              <a:ahLst/>
              <a:cxnLst/>
              <a:rect r="r" b="b" t="t" l="l"/>
              <a:pathLst>
                <a:path h="1850644" w="22074632">
                  <a:moveTo>
                    <a:pt x="0" y="308483"/>
                  </a:moveTo>
                  <a:cubicBezTo>
                    <a:pt x="0" y="138049"/>
                    <a:pt x="138049" y="0"/>
                    <a:pt x="308483" y="0"/>
                  </a:cubicBezTo>
                  <a:lnTo>
                    <a:pt x="21766149" y="0"/>
                  </a:lnTo>
                  <a:cubicBezTo>
                    <a:pt x="21936456" y="0"/>
                    <a:pt x="22074632" y="138049"/>
                    <a:pt x="22074632" y="308483"/>
                  </a:cubicBezTo>
                  <a:lnTo>
                    <a:pt x="22074632" y="1542161"/>
                  </a:lnTo>
                  <a:cubicBezTo>
                    <a:pt x="22074632" y="1712468"/>
                    <a:pt x="21936583" y="1850644"/>
                    <a:pt x="21766149" y="1850644"/>
                  </a:cubicBezTo>
                  <a:lnTo>
                    <a:pt x="308483" y="1850644"/>
                  </a:lnTo>
                  <a:cubicBezTo>
                    <a:pt x="138049" y="1850517"/>
                    <a:pt x="0" y="1712468"/>
                    <a:pt x="0" y="1542161"/>
                  </a:cubicBezTo>
                  <a:close/>
                </a:path>
              </a:pathLst>
            </a:custGeom>
            <a:solidFill>
              <a:srgbClr val="E3ECF8"/>
            </a:solidFill>
            <a:ln w="15252" cap="sq">
              <a:solidFill>
                <a:srgbClr val="E3ECF8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71978" y="7449007"/>
            <a:ext cx="2809456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56B97"/>
                </a:solidFill>
                <a:latin typeface="Aptos Bold"/>
                <a:ea typeface="Aptos Bold"/>
                <a:cs typeface="Aptos Bold"/>
                <a:sym typeface="Aptos Bold"/>
              </a:rPr>
              <a:t>ERROR BY CONDITION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23223" y="7311742"/>
            <a:ext cx="12418171" cy="640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For large jumps (&gt;20 points), model MAE = 36.77 vs persistence = 46.43; on normal hours, persistence is better (2.40 vs 5.10).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43429" y="8708841"/>
            <a:ext cx="16555955" cy="674132"/>
            <a:chOff x="0" y="0"/>
            <a:chExt cx="22074607" cy="8988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074632" cy="898906"/>
            </a:xfrm>
            <a:custGeom>
              <a:avLst/>
              <a:gdLst/>
              <a:ahLst/>
              <a:cxnLst/>
              <a:rect r="r" b="b" t="t" l="l"/>
              <a:pathLst>
                <a:path h="898906" w="22074632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21924772" y="0"/>
                  </a:lnTo>
                  <a:cubicBezTo>
                    <a:pt x="22007449" y="0"/>
                    <a:pt x="22074632" y="67056"/>
                    <a:pt x="22074632" y="149860"/>
                  </a:cubicBezTo>
                  <a:lnTo>
                    <a:pt x="22074632" y="749046"/>
                  </a:lnTo>
                  <a:cubicBezTo>
                    <a:pt x="22074632" y="831723"/>
                    <a:pt x="22007576" y="898906"/>
                    <a:pt x="21924772" y="898906"/>
                  </a:cubicBezTo>
                  <a:lnTo>
                    <a:pt x="149860" y="898906"/>
                  </a:lnTo>
                  <a:cubicBezTo>
                    <a:pt x="67056" y="898906"/>
                    <a:pt x="0" y="831723"/>
                    <a:pt x="0" y="749046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162164" y="8894512"/>
            <a:ext cx="1368152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TAKEAWAY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17203" y="8862860"/>
            <a:ext cx="14408544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Hampel helps with spikes, not all noise; sudden rain/watering changes remain a major error source.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7635" y="9919821"/>
            <a:ext cx="11594563" cy="1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SIGNAL PROCESSING  •  FINAL PROJECT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714546" y="9869110"/>
            <a:ext cx="5857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7635" y="411404"/>
            <a:ext cx="7476544" cy="2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12  •  INTERPRETABILITY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635" y="887635"/>
            <a:ext cx="16398916" cy="72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SHAP Explainability &amp; Irrigation Decision Support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8510" y="1743294"/>
            <a:ext cx="1029500" cy="75495"/>
            <a:chOff x="0" y="0"/>
            <a:chExt cx="1372667" cy="100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616" cy="100711"/>
            </a:xfrm>
            <a:custGeom>
              <a:avLst/>
              <a:gdLst/>
              <a:ahLst/>
              <a:cxnLst/>
              <a:rect r="r" b="b" t="t" l="l"/>
              <a:pathLst>
                <a:path h="100711" w="1372616">
                  <a:moveTo>
                    <a:pt x="0" y="0"/>
                  </a:moveTo>
                  <a:lnTo>
                    <a:pt x="1372616" y="0"/>
                  </a:lnTo>
                  <a:lnTo>
                    <a:pt x="1372616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42665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987027" y="466306"/>
            <a:ext cx="1368152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13  /  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3429" y="2161194"/>
            <a:ext cx="5711838" cy="6398181"/>
            <a:chOff x="0" y="0"/>
            <a:chExt cx="7615784" cy="85309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15809" cy="8530972"/>
            </a:xfrm>
            <a:custGeom>
              <a:avLst/>
              <a:gdLst/>
              <a:ahLst/>
              <a:cxnLst/>
              <a:rect r="r" b="b" t="t" l="l"/>
              <a:pathLst>
                <a:path h="8530972" w="7615809">
                  <a:moveTo>
                    <a:pt x="0" y="1269365"/>
                  </a:moveTo>
                  <a:cubicBezTo>
                    <a:pt x="0" y="568325"/>
                    <a:pt x="568325" y="0"/>
                    <a:pt x="1269365" y="0"/>
                  </a:cubicBezTo>
                  <a:lnTo>
                    <a:pt x="6346444" y="0"/>
                  </a:lnTo>
                  <a:cubicBezTo>
                    <a:pt x="7047484" y="0"/>
                    <a:pt x="7615809" y="568325"/>
                    <a:pt x="7615809" y="1269365"/>
                  </a:cubicBezTo>
                  <a:lnTo>
                    <a:pt x="7615809" y="7261606"/>
                  </a:lnTo>
                  <a:cubicBezTo>
                    <a:pt x="7615809" y="7962647"/>
                    <a:pt x="7047484" y="8530972"/>
                    <a:pt x="6346444" y="8530972"/>
                  </a:cubicBezTo>
                  <a:lnTo>
                    <a:pt x="1269365" y="8530972"/>
                  </a:lnTo>
                  <a:cubicBezTo>
                    <a:pt x="568325" y="8530844"/>
                    <a:pt x="0" y="7962646"/>
                    <a:pt x="0" y="726160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71978" y="2589743"/>
            <a:ext cx="2946730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WHAT SHAP ADDS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0266" y="3097635"/>
            <a:ext cx="4781550" cy="378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SHAP attributes a prediction to contributions from individual features.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Mean absolute SHAP values rank global feature importance.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Current soil moisture is the strongest feature in the submitted output.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The forecast can be passed to configurable rules for an irrigation advisory.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27782" y="7294988"/>
            <a:ext cx="4750975" cy="481965"/>
            <a:chOff x="0" y="0"/>
            <a:chExt cx="6334633" cy="6426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34633" cy="642620"/>
            </a:xfrm>
            <a:custGeom>
              <a:avLst/>
              <a:gdLst/>
              <a:ahLst/>
              <a:cxnLst/>
              <a:rect r="r" b="b" t="t" l="l"/>
              <a:pathLst>
                <a:path h="642620" w="6334633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6227572" y="0"/>
                  </a:lnTo>
                  <a:cubicBezTo>
                    <a:pt x="6286754" y="0"/>
                    <a:pt x="6334633" y="48006"/>
                    <a:pt x="6334633" y="107061"/>
                  </a:cubicBezTo>
                  <a:lnTo>
                    <a:pt x="6334633" y="535559"/>
                  </a:lnTo>
                  <a:cubicBezTo>
                    <a:pt x="6334633" y="594741"/>
                    <a:pt x="6286627" y="642620"/>
                    <a:pt x="6227572" y="642620"/>
                  </a:cubicBezTo>
                  <a:lnTo>
                    <a:pt x="107061" y="642620"/>
                  </a:lnTo>
                  <a:cubicBezTo>
                    <a:pt x="48006" y="642620"/>
                    <a:pt x="0" y="594614"/>
                    <a:pt x="0" y="535559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81792" y="7412031"/>
            <a:ext cx="4442936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Decision support — not field validated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1978" y="7888262"/>
            <a:ext cx="4799838" cy="393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i="true">
                <a:solidFill>
                  <a:srgbClr val="68756E"/>
                </a:solidFill>
                <a:latin typeface="Aptos Italics"/>
                <a:ea typeface="Aptos Italics"/>
                <a:cs typeface="Aptos Italics"/>
                <a:sym typeface="Aptos Italics"/>
              </a:rPr>
              <a:t>Rainfall forecasts are not included, limiting anticipation of sudden wetting events.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828282" y="2161194"/>
            <a:ext cx="10571102" cy="6398181"/>
            <a:chOff x="0" y="0"/>
            <a:chExt cx="14094803" cy="85309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094840" cy="8530972"/>
            </a:xfrm>
            <a:custGeom>
              <a:avLst/>
              <a:gdLst/>
              <a:ahLst/>
              <a:cxnLst/>
              <a:rect r="r" b="b" t="t" l="l"/>
              <a:pathLst>
                <a:path h="8530972" w="14094840">
                  <a:moveTo>
                    <a:pt x="0" y="1421892"/>
                  </a:moveTo>
                  <a:cubicBezTo>
                    <a:pt x="0" y="636524"/>
                    <a:pt x="636524" y="0"/>
                    <a:pt x="1421892" y="0"/>
                  </a:cubicBezTo>
                  <a:lnTo>
                    <a:pt x="12672949" y="0"/>
                  </a:lnTo>
                  <a:cubicBezTo>
                    <a:pt x="13458189" y="0"/>
                    <a:pt x="14094840" y="636524"/>
                    <a:pt x="14094840" y="1421892"/>
                  </a:cubicBezTo>
                  <a:lnTo>
                    <a:pt x="14094840" y="7109079"/>
                  </a:lnTo>
                  <a:cubicBezTo>
                    <a:pt x="14094840" y="7894320"/>
                    <a:pt x="13458317" y="8530972"/>
                    <a:pt x="12672949" y="8530972"/>
                  </a:cubicBezTo>
                  <a:lnTo>
                    <a:pt x="1421892" y="8530972"/>
                  </a:lnTo>
                  <a:cubicBezTo>
                    <a:pt x="636524" y="8530844"/>
                    <a:pt x="0" y="7894320"/>
                    <a:pt x="0" y="710907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7003523" y="2292363"/>
            <a:ext cx="10220620" cy="6135843"/>
            <a:chOff x="0" y="0"/>
            <a:chExt cx="13627494" cy="8181124"/>
          </a:xfrm>
        </p:grpSpPr>
        <p:sp>
          <p:nvSpPr>
            <p:cNvPr name="Freeform 18" id="18" descr="shap_importance.png"/>
            <p:cNvSpPr/>
            <p:nvPr/>
          </p:nvSpPr>
          <p:spPr>
            <a:xfrm flipH="false" flipV="false" rot="0">
              <a:off x="0" y="0"/>
              <a:ext cx="13627481" cy="8181086"/>
            </a:xfrm>
            <a:custGeom>
              <a:avLst/>
              <a:gdLst/>
              <a:ahLst/>
              <a:cxnLst/>
              <a:rect r="r" b="b" t="t" l="l"/>
              <a:pathLst>
                <a:path h="8181086" w="13627481">
                  <a:moveTo>
                    <a:pt x="0" y="0"/>
                  </a:moveTo>
                  <a:lnTo>
                    <a:pt x="13627481" y="0"/>
                  </a:lnTo>
                  <a:lnTo>
                    <a:pt x="13627481" y="8181086"/>
                  </a:lnTo>
                  <a:lnTo>
                    <a:pt x="0" y="8181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43429" y="8887292"/>
            <a:ext cx="16555955" cy="674132"/>
            <a:chOff x="0" y="0"/>
            <a:chExt cx="22074607" cy="8988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074632" cy="898906"/>
            </a:xfrm>
            <a:custGeom>
              <a:avLst/>
              <a:gdLst/>
              <a:ahLst/>
              <a:cxnLst/>
              <a:rect r="r" b="b" t="t" l="l"/>
              <a:pathLst>
                <a:path h="898906" w="22074632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21924772" y="0"/>
                  </a:lnTo>
                  <a:cubicBezTo>
                    <a:pt x="22007449" y="0"/>
                    <a:pt x="22074632" y="67056"/>
                    <a:pt x="22074632" y="149860"/>
                  </a:cubicBezTo>
                  <a:lnTo>
                    <a:pt x="22074632" y="749046"/>
                  </a:lnTo>
                  <a:cubicBezTo>
                    <a:pt x="22074632" y="831723"/>
                    <a:pt x="22007576" y="898906"/>
                    <a:pt x="21924772" y="898906"/>
                  </a:cubicBezTo>
                  <a:lnTo>
                    <a:pt x="149860" y="898906"/>
                  </a:lnTo>
                  <a:cubicBezTo>
                    <a:pt x="67056" y="898906"/>
                    <a:pt x="0" y="831723"/>
                    <a:pt x="0" y="749046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162164" y="9072963"/>
            <a:ext cx="1368152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TAKEAWAY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17203" y="9041311"/>
            <a:ext cx="14408544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Explainability highlights current moisture as the dominant driver; recommendations need agronomic validation.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7635" y="9919821"/>
            <a:ext cx="11594563" cy="1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SIGNAL PROCESSING  •  FINAL PROJECT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714546" y="9869110"/>
            <a:ext cx="5857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7635" y="411404"/>
            <a:ext cx="7476544" cy="2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13  •  WRAP-UP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635" y="887635"/>
            <a:ext cx="16398916" cy="72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Conclusion, Limitations &amp; Future Scope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8510" y="1743294"/>
            <a:ext cx="1029500" cy="75495"/>
            <a:chOff x="0" y="0"/>
            <a:chExt cx="1372667" cy="100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616" cy="100711"/>
            </a:xfrm>
            <a:custGeom>
              <a:avLst/>
              <a:gdLst/>
              <a:ahLst/>
              <a:cxnLst/>
              <a:rect r="r" b="b" t="t" l="l"/>
              <a:pathLst>
                <a:path h="100711" w="1372616">
                  <a:moveTo>
                    <a:pt x="0" y="0"/>
                  </a:moveTo>
                  <a:lnTo>
                    <a:pt x="1372616" y="0"/>
                  </a:lnTo>
                  <a:lnTo>
                    <a:pt x="1372616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42665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987027" y="466306"/>
            <a:ext cx="1368152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14  /  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3429" y="2216106"/>
            <a:ext cx="5258857" cy="6439357"/>
            <a:chOff x="0" y="0"/>
            <a:chExt cx="7011810" cy="85858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11797" cy="8585836"/>
            </a:xfrm>
            <a:custGeom>
              <a:avLst/>
              <a:gdLst/>
              <a:ahLst/>
              <a:cxnLst/>
              <a:rect r="r" b="b" t="t" l="l"/>
              <a:pathLst>
                <a:path h="8585836" w="7011797">
                  <a:moveTo>
                    <a:pt x="0" y="1168654"/>
                  </a:moveTo>
                  <a:cubicBezTo>
                    <a:pt x="0" y="523240"/>
                    <a:pt x="523240" y="0"/>
                    <a:pt x="1168654" y="0"/>
                  </a:cubicBezTo>
                  <a:lnTo>
                    <a:pt x="5843143" y="0"/>
                  </a:lnTo>
                  <a:cubicBezTo>
                    <a:pt x="6488557" y="0"/>
                    <a:pt x="7011797" y="523240"/>
                    <a:pt x="7011797" y="1168654"/>
                  </a:cubicBezTo>
                  <a:lnTo>
                    <a:pt x="7011797" y="7417181"/>
                  </a:lnTo>
                  <a:cubicBezTo>
                    <a:pt x="7011797" y="8062595"/>
                    <a:pt x="6488557" y="8585836"/>
                    <a:pt x="5843143" y="8585836"/>
                  </a:cubicBezTo>
                  <a:lnTo>
                    <a:pt x="1168654" y="8585836"/>
                  </a:lnTo>
                  <a:cubicBezTo>
                    <a:pt x="523240" y="8585835"/>
                    <a:pt x="0" y="8062595"/>
                    <a:pt x="0" y="7417181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43429" y="2216106"/>
            <a:ext cx="5258857" cy="866308"/>
            <a:chOff x="0" y="0"/>
            <a:chExt cx="7011810" cy="11550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11797" cy="1155065"/>
            </a:xfrm>
            <a:custGeom>
              <a:avLst/>
              <a:gdLst/>
              <a:ahLst/>
              <a:cxnLst/>
              <a:rect r="r" b="b" t="t" l="l"/>
              <a:pathLst>
                <a:path h="1155065" w="7011797">
                  <a:moveTo>
                    <a:pt x="0" y="192532"/>
                  </a:moveTo>
                  <a:cubicBezTo>
                    <a:pt x="0" y="86233"/>
                    <a:pt x="86233" y="0"/>
                    <a:pt x="192532" y="0"/>
                  </a:cubicBezTo>
                  <a:lnTo>
                    <a:pt x="6819265" y="0"/>
                  </a:lnTo>
                  <a:cubicBezTo>
                    <a:pt x="6925564" y="0"/>
                    <a:pt x="7011797" y="86233"/>
                    <a:pt x="7011797" y="192532"/>
                  </a:cubicBezTo>
                  <a:lnTo>
                    <a:pt x="7011797" y="962533"/>
                  </a:lnTo>
                  <a:cubicBezTo>
                    <a:pt x="7011797" y="1068832"/>
                    <a:pt x="6925564" y="1155065"/>
                    <a:pt x="6819265" y="1155065"/>
                  </a:cubicBezTo>
                  <a:lnTo>
                    <a:pt x="192532" y="1155065"/>
                  </a:lnTo>
                  <a:cubicBezTo>
                    <a:pt x="86233" y="1155065"/>
                    <a:pt x="0" y="1068832"/>
                    <a:pt x="0" y="962533"/>
                  </a:cubicBezTo>
                  <a:close/>
                </a:path>
              </a:pathLst>
            </a:custGeom>
            <a:solidFill>
              <a:srgbClr val="DCE9DD"/>
            </a:solidFill>
            <a:ln w="15252" cap="sq">
              <a:solidFill>
                <a:srgbClr val="DCE9DD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134713" y="2534841"/>
            <a:ext cx="4662564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CONCLUSIONS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7913" y="3536890"/>
            <a:ext cx="4507011" cy="447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Built an end-to-end software pipeline on real station data.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Hampel reduced spike impact but flagged ~11% of samples.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Persistence had best MAE; LightGBM + Hampel had best RMSE in the reported common-split comparison.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CEEMDAN did not improve reported accuracy.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471390" y="2216106"/>
            <a:ext cx="5258857" cy="6439357"/>
            <a:chOff x="0" y="0"/>
            <a:chExt cx="7011810" cy="85858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11797" cy="8585836"/>
            </a:xfrm>
            <a:custGeom>
              <a:avLst/>
              <a:gdLst/>
              <a:ahLst/>
              <a:cxnLst/>
              <a:rect r="r" b="b" t="t" l="l"/>
              <a:pathLst>
                <a:path h="8585836" w="7011797">
                  <a:moveTo>
                    <a:pt x="0" y="1168654"/>
                  </a:moveTo>
                  <a:cubicBezTo>
                    <a:pt x="0" y="523240"/>
                    <a:pt x="523240" y="0"/>
                    <a:pt x="1168654" y="0"/>
                  </a:cubicBezTo>
                  <a:lnTo>
                    <a:pt x="5843143" y="0"/>
                  </a:lnTo>
                  <a:cubicBezTo>
                    <a:pt x="6488557" y="0"/>
                    <a:pt x="7011797" y="523240"/>
                    <a:pt x="7011797" y="1168654"/>
                  </a:cubicBezTo>
                  <a:lnTo>
                    <a:pt x="7011797" y="7417181"/>
                  </a:lnTo>
                  <a:cubicBezTo>
                    <a:pt x="7011797" y="8062595"/>
                    <a:pt x="6488557" y="8585836"/>
                    <a:pt x="5843143" y="8585836"/>
                  </a:cubicBezTo>
                  <a:lnTo>
                    <a:pt x="1168654" y="8585836"/>
                  </a:lnTo>
                  <a:cubicBezTo>
                    <a:pt x="523240" y="8585835"/>
                    <a:pt x="0" y="8062595"/>
                    <a:pt x="0" y="7417181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471390" y="2216106"/>
            <a:ext cx="5258857" cy="866308"/>
            <a:chOff x="0" y="0"/>
            <a:chExt cx="7011810" cy="11550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11797" cy="1155065"/>
            </a:xfrm>
            <a:custGeom>
              <a:avLst/>
              <a:gdLst/>
              <a:ahLst/>
              <a:cxnLst/>
              <a:rect r="r" b="b" t="t" l="l"/>
              <a:pathLst>
                <a:path h="1155065" w="7011797">
                  <a:moveTo>
                    <a:pt x="0" y="192532"/>
                  </a:moveTo>
                  <a:cubicBezTo>
                    <a:pt x="0" y="86233"/>
                    <a:pt x="86233" y="0"/>
                    <a:pt x="192532" y="0"/>
                  </a:cubicBezTo>
                  <a:lnTo>
                    <a:pt x="6819265" y="0"/>
                  </a:lnTo>
                  <a:cubicBezTo>
                    <a:pt x="6925564" y="0"/>
                    <a:pt x="7011797" y="86233"/>
                    <a:pt x="7011797" y="192532"/>
                  </a:cubicBezTo>
                  <a:lnTo>
                    <a:pt x="7011797" y="962533"/>
                  </a:lnTo>
                  <a:cubicBezTo>
                    <a:pt x="7011797" y="1068832"/>
                    <a:pt x="6925564" y="1155065"/>
                    <a:pt x="6819265" y="1155065"/>
                  </a:cubicBezTo>
                  <a:lnTo>
                    <a:pt x="192532" y="1155065"/>
                  </a:lnTo>
                  <a:cubicBezTo>
                    <a:pt x="86233" y="1155065"/>
                    <a:pt x="0" y="1068832"/>
                    <a:pt x="0" y="962533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762674" y="2534841"/>
            <a:ext cx="4662564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LIMITATIONS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35864" y="3536890"/>
            <a:ext cx="4507011" cy="447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One station; test period is about 11 weeks.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Clear train–test performance gap (overfitting).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No rainfall forecast input.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Full-series CEEMDAN leaks future information; walk-forward validation remains incomplete.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99341" y="2216106"/>
            <a:ext cx="5258857" cy="6439357"/>
            <a:chOff x="0" y="0"/>
            <a:chExt cx="7011810" cy="85858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11797" cy="8585836"/>
            </a:xfrm>
            <a:custGeom>
              <a:avLst/>
              <a:gdLst/>
              <a:ahLst/>
              <a:cxnLst/>
              <a:rect r="r" b="b" t="t" l="l"/>
              <a:pathLst>
                <a:path h="8585836" w="7011797">
                  <a:moveTo>
                    <a:pt x="0" y="1168654"/>
                  </a:moveTo>
                  <a:cubicBezTo>
                    <a:pt x="0" y="523240"/>
                    <a:pt x="523240" y="0"/>
                    <a:pt x="1168654" y="0"/>
                  </a:cubicBezTo>
                  <a:lnTo>
                    <a:pt x="5843143" y="0"/>
                  </a:lnTo>
                  <a:cubicBezTo>
                    <a:pt x="6488557" y="0"/>
                    <a:pt x="7011797" y="523240"/>
                    <a:pt x="7011797" y="1168654"/>
                  </a:cubicBezTo>
                  <a:lnTo>
                    <a:pt x="7011797" y="7417181"/>
                  </a:lnTo>
                  <a:cubicBezTo>
                    <a:pt x="7011797" y="8062595"/>
                    <a:pt x="6488557" y="8585836"/>
                    <a:pt x="5843143" y="8585836"/>
                  </a:cubicBezTo>
                  <a:lnTo>
                    <a:pt x="1168654" y="8585836"/>
                  </a:lnTo>
                  <a:cubicBezTo>
                    <a:pt x="523240" y="8585835"/>
                    <a:pt x="0" y="8062595"/>
                    <a:pt x="0" y="7417181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099341" y="2216106"/>
            <a:ext cx="5258857" cy="866308"/>
            <a:chOff x="0" y="0"/>
            <a:chExt cx="7011810" cy="11550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11797" cy="1155065"/>
            </a:xfrm>
            <a:custGeom>
              <a:avLst/>
              <a:gdLst/>
              <a:ahLst/>
              <a:cxnLst/>
              <a:rect r="r" b="b" t="t" l="l"/>
              <a:pathLst>
                <a:path h="1155065" w="7011797">
                  <a:moveTo>
                    <a:pt x="0" y="192532"/>
                  </a:moveTo>
                  <a:cubicBezTo>
                    <a:pt x="0" y="86233"/>
                    <a:pt x="86233" y="0"/>
                    <a:pt x="192532" y="0"/>
                  </a:cubicBezTo>
                  <a:lnTo>
                    <a:pt x="6819265" y="0"/>
                  </a:lnTo>
                  <a:cubicBezTo>
                    <a:pt x="6925564" y="0"/>
                    <a:pt x="7011797" y="86233"/>
                    <a:pt x="7011797" y="192532"/>
                  </a:cubicBezTo>
                  <a:lnTo>
                    <a:pt x="7011797" y="962533"/>
                  </a:lnTo>
                  <a:cubicBezTo>
                    <a:pt x="7011797" y="1068832"/>
                    <a:pt x="6925564" y="1155065"/>
                    <a:pt x="6819265" y="1155065"/>
                  </a:cubicBezTo>
                  <a:lnTo>
                    <a:pt x="192532" y="1155065"/>
                  </a:lnTo>
                  <a:cubicBezTo>
                    <a:pt x="86233" y="1155065"/>
                    <a:pt x="0" y="1068832"/>
                    <a:pt x="0" y="962533"/>
                  </a:cubicBezTo>
                  <a:close/>
                </a:path>
              </a:pathLst>
            </a:custGeom>
            <a:solidFill>
              <a:srgbClr val="E3ECF8"/>
            </a:solidFill>
            <a:ln w="15252" cap="sq">
              <a:solidFill>
                <a:srgbClr val="E3ECF8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390625" y="2534841"/>
            <a:ext cx="4662564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456B97"/>
                </a:solidFill>
                <a:latin typeface="Aptos Bold"/>
                <a:ea typeface="Aptos Bold"/>
                <a:cs typeface="Aptos Bold"/>
                <a:sym typeface="Aptos Bold"/>
              </a:rPr>
              <a:t>FUTURE SCOPE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63824" y="3536890"/>
            <a:ext cx="4507011" cy="447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Use causal/past-only processing and rerun all metrics.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Tune Hampel threshold and improve IMF selection.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Add rainfall forecasts and validate across more stations/seasons.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Reduce overfitting and test with walk-forward validation.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43429" y="8873566"/>
            <a:ext cx="16555955" cy="674132"/>
            <a:chOff x="0" y="0"/>
            <a:chExt cx="22074607" cy="89884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074632" cy="898906"/>
            </a:xfrm>
            <a:custGeom>
              <a:avLst/>
              <a:gdLst/>
              <a:ahLst/>
              <a:cxnLst/>
              <a:rect r="r" b="b" t="t" l="l"/>
              <a:pathLst>
                <a:path h="898906" w="22074632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21924772" y="0"/>
                  </a:lnTo>
                  <a:cubicBezTo>
                    <a:pt x="22007449" y="0"/>
                    <a:pt x="22074632" y="67056"/>
                    <a:pt x="22074632" y="149860"/>
                  </a:cubicBezTo>
                  <a:lnTo>
                    <a:pt x="22074632" y="749046"/>
                  </a:lnTo>
                  <a:cubicBezTo>
                    <a:pt x="22074632" y="831723"/>
                    <a:pt x="22007576" y="898906"/>
                    <a:pt x="21924772" y="898906"/>
                  </a:cubicBezTo>
                  <a:lnTo>
                    <a:pt x="149860" y="898906"/>
                  </a:lnTo>
                  <a:cubicBezTo>
                    <a:pt x="67056" y="898906"/>
                    <a:pt x="0" y="831723"/>
                    <a:pt x="0" y="749046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162164" y="9059237"/>
            <a:ext cx="1368152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TAKEAWAY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617203" y="9027576"/>
            <a:ext cx="14408544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The pipeline is a useful prototype, but current evidence does not show consistent improvement over persistence.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87635" y="9919821"/>
            <a:ext cx="11594563" cy="1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SIGNAL PROCESSING  •  FINAL PROJECT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714546" y="9869110"/>
            <a:ext cx="5857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7635" y="411404"/>
            <a:ext cx="7476544" cy="2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14  •  ACKNOWLEDGEMENTS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635" y="887635"/>
            <a:ext cx="16398916" cy="72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Team Contributions, References &amp; Q&amp;A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8510" y="1743294"/>
            <a:ext cx="1029500" cy="75495"/>
            <a:chOff x="0" y="0"/>
            <a:chExt cx="1372667" cy="100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616" cy="100711"/>
            </a:xfrm>
            <a:custGeom>
              <a:avLst/>
              <a:gdLst/>
              <a:ahLst/>
              <a:cxnLst/>
              <a:rect r="r" b="b" t="t" l="l"/>
              <a:pathLst>
                <a:path h="100711" w="1372616">
                  <a:moveTo>
                    <a:pt x="0" y="0"/>
                  </a:moveTo>
                  <a:lnTo>
                    <a:pt x="1372616" y="0"/>
                  </a:lnTo>
                  <a:lnTo>
                    <a:pt x="1372616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42665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987027" y="466306"/>
            <a:ext cx="1368152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15  /  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3429" y="2078841"/>
            <a:ext cx="5505945" cy="3062583"/>
            <a:chOff x="0" y="0"/>
            <a:chExt cx="7341260" cy="40834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41236" cy="4083431"/>
            </a:xfrm>
            <a:custGeom>
              <a:avLst/>
              <a:gdLst/>
              <a:ahLst/>
              <a:cxnLst/>
              <a:rect r="r" b="b" t="t" l="l"/>
              <a:pathLst>
                <a:path h="4083431" w="7341236">
                  <a:moveTo>
                    <a:pt x="0" y="680593"/>
                  </a:moveTo>
                  <a:cubicBezTo>
                    <a:pt x="0" y="304673"/>
                    <a:pt x="304673" y="0"/>
                    <a:pt x="680593" y="0"/>
                  </a:cubicBezTo>
                  <a:lnTo>
                    <a:pt x="6660642" y="0"/>
                  </a:lnTo>
                  <a:cubicBezTo>
                    <a:pt x="7036562" y="0"/>
                    <a:pt x="7341236" y="304673"/>
                    <a:pt x="7341236" y="680593"/>
                  </a:cubicBezTo>
                  <a:lnTo>
                    <a:pt x="7341236" y="3402838"/>
                  </a:lnTo>
                  <a:cubicBezTo>
                    <a:pt x="7341236" y="3778758"/>
                    <a:pt x="7036562" y="4083431"/>
                    <a:pt x="6660642" y="4083431"/>
                  </a:cubicBezTo>
                  <a:lnTo>
                    <a:pt x="680593" y="4083431"/>
                  </a:lnTo>
                  <a:cubicBezTo>
                    <a:pt x="304673" y="4083431"/>
                    <a:pt x="0" y="3778758"/>
                    <a:pt x="0" y="340283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DFD7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71978" y="2507390"/>
            <a:ext cx="3770328" cy="242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TEAM CONTRIBUTIONS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1978" y="3028998"/>
            <a:ext cx="4593936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Monica Raghini Chelle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1978" y="3307737"/>
            <a:ext cx="4593936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CEEMDAN, IMF selection, past-only variant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1978" y="3687880"/>
            <a:ext cx="4593936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Swarna Asritha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1978" y="3966620"/>
            <a:ext cx="4593936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Data preparation, Hampel filtering, robustness tests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1978" y="4346772"/>
            <a:ext cx="4593936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Dhanush Karthikeya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1978" y="4625502"/>
            <a:ext cx="4593936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8756E"/>
                </a:solidFill>
                <a:latin typeface="Aptos"/>
                <a:ea typeface="Aptos"/>
                <a:cs typeface="Aptos"/>
                <a:sym typeface="Aptos"/>
              </a:rPr>
              <a:t>LightGBM modelling, evaluation, SHAP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718468" y="2078841"/>
            <a:ext cx="10680916" cy="5162769"/>
            <a:chOff x="0" y="0"/>
            <a:chExt cx="14241221" cy="68836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241272" cy="6883654"/>
            </a:xfrm>
            <a:custGeom>
              <a:avLst/>
              <a:gdLst/>
              <a:ahLst/>
              <a:cxnLst/>
              <a:rect r="r" b="b" t="t" l="l"/>
              <a:pathLst>
                <a:path h="6883654" w="14241272">
                  <a:moveTo>
                    <a:pt x="0" y="1147318"/>
                  </a:moveTo>
                  <a:cubicBezTo>
                    <a:pt x="0" y="513715"/>
                    <a:pt x="513715" y="0"/>
                    <a:pt x="1147318" y="0"/>
                  </a:cubicBezTo>
                  <a:lnTo>
                    <a:pt x="13093954" y="0"/>
                  </a:lnTo>
                  <a:cubicBezTo>
                    <a:pt x="13727557" y="0"/>
                    <a:pt x="14241272" y="513715"/>
                    <a:pt x="14241272" y="1147318"/>
                  </a:cubicBezTo>
                  <a:lnTo>
                    <a:pt x="14241272" y="5736336"/>
                  </a:lnTo>
                  <a:cubicBezTo>
                    <a:pt x="14241272" y="6369939"/>
                    <a:pt x="13727557" y="6883654"/>
                    <a:pt x="13093954" y="6883654"/>
                  </a:cubicBezTo>
                  <a:lnTo>
                    <a:pt x="1147318" y="6883654"/>
                  </a:lnTo>
                  <a:cubicBezTo>
                    <a:pt x="513715" y="6883654"/>
                    <a:pt x="0" y="6370066"/>
                    <a:pt x="0" y="5736336"/>
                  </a:cubicBezTo>
                  <a:close/>
                </a:path>
              </a:pathLst>
            </a:custGeom>
            <a:solidFill>
              <a:srgbClr val="E3ECF8"/>
            </a:solidFill>
            <a:ln w="15252" cap="sq">
              <a:solidFill>
                <a:srgbClr val="E3ECF8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7174468" y="2507390"/>
            <a:ext cx="4319397" cy="242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56B97"/>
                </a:solidFill>
                <a:latin typeface="Aptos Bold"/>
                <a:ea typeface="Aptos Bold"/>
                <a:cs typeface="Aptos Bold"/>
                <a:sym typeface="Aptos Bold"/>
              </a:rPr>
              <a:t>SELECTED REFERENCES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92756" y="2992022"/>
            <a:ext cx="9654530" cy="3866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[1] Ullah et al., “ANN Based Learning to Kalman Filter Algorithm for Indoor Environment Prediction in Smart Greenhouse,” IEEE Access, 2020.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[2] Singh et al., “Machine Learning Based Soil Moisture Prediction for IoT Based Smart Irrigation System,” IEEE SPCC, 2019.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[3] Mabunga &amp; Dela Cruz, “An Optimized Soil Moisture Prediction Model for Smart Agriculture Using Gaussian Process Regression,” IEEE CSPA, 2022.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[4] Afzal et al., “IoT-Enabled Adaptive Watering System With ARIMA-Based Soil Moisture Prediction,” IEEE Access, 2025.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[5] Torres et al., “A Complete Ensemble Empirical Mode Decomposition with Adaptive Noise,” IEEE ICASSP, 2011.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[6] Ke et al., “LightGBM: A Highly Efficient Gradient Boosting Decision Tree,” NeurIPS, 2017.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•  [7] Lundberg &amp; Lee, “A Unified Approach to Interpreting Model Predictions,” NeurIPS, 2017.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43429" y="5592880"/>
            <a:ext cx="5505945" cy="1662455"/>
            <a:chOff x="0" y="0"/>
            <a:chExt cx="7341260" cy="22166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41236" cy="2216658"/>
            </a:xfrm>
            <a:custGeom>
              <a:avLst/>
              <a:gdLst/>
              <a:ahLst/>
              <a:cxnLst/>
              <a:rect r="r" b="b" t="t" l="l"/>
              <a:pathLst>
                <a:path h="2216658" w="7341236">
                  <a:moveTo>
                    <a:pt x="0" y="369443"/>
                  </a:moveTo>
                  <a:cubicBezTo>
                    <a:pt x="0" y="165354"/>
                    <a:pt x="165354" y="0"/>
                    <a:pt x="369443" y="0"/>
                  </a:cubicBezTo>
                  <a:lnTo>
                    <a:pt x="6971792" y="0"/>
                  </a:lnTo>
                  <a:cubicBezTo>
                    <a:pt x="7175881" y="0"/>
                    <a:pt x="7341236" y="165354"/>
                    <a:pt x="7341236" y="369443"/>
                  </a:cubicBezTo>
                  <a:lnTo>
                    <a:pt x="7341236" y="1847215"/>
                  </a:lnTo>
                  <a:cubicBezTo>
                    <a:pt x="7341236" y="2051304"/>
                    <a:pt x="7175881" y="2216658"/>
                    <a:pt x="6971792" y="2216658"/>
                  </a:cubicBezTo>
                  <a:lnTo>
                    <a:pt x="369443" y="2216658"/>
                  </a:lnTo>
                  <a:cubicBezTo>
                    <a:pt x="165354" y="2216658"/>
                    <a:pt x="0" y="2051177"/>
                    <a:pt x="0" y="1847215"/>
                  </a:cubicBezTo>
                  <a:close/>
                </a:path>
              </a:pathLst>
            </a:custGeom>
            <a:solidFill>
              <a:srgbClr val="DCE9DD"/>
            </a:solidFill>
            <a:ln w="15252" cap="sq">
              <a:solidFill>
                <a:srgbClr val="DCE9DD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271978" y="5993978"/>
            <a:ext cx="4593936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1978" y="6597948"/>
            <a:ext cx="4593936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26362F"/>
                </a:solidFill>
                <a:latin typeface="Aptos"/>
                <a:ea typeface="Aptos"/>
                <a:cs typeface="Aptos"/>
                <a:sym typeface="Aptos"/>
              </a:rPr>
              <a:t>Questions &amp; Discussion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43429" y="7706792"/>
            <a:ext cx="16555955" cy="1113387"/>
            <a:chOff x="0" y="0"/>
            <a:chExt cx="22074607" cy="14845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074632" cy="1484503"/>
            </a:xfrm>
            <a:custGeom>
              <a:avLst/>
              <a:gdLst/>
              <a:ahLst/>
              <a:cxnLst/>
              <a:rect r="r" b="b" t="t" l="l"/>
              <a:pathLst>
                <a:path h="1484503" w="22074632">
                  <a:moveTo>
                    <a:pt x="0" y="247396"/>
                  </a:moveTo>
                  <a:cubicBezTo>
                    <a:pt x="0" y="110744"/>
                    <a:pt x="110744" y="0"/>
                    <a:pt x="247396" y="0"/>
                  </a:cubicBezTo>
                  <a:lnTo>
                    <a:pt x="21827237" y="0"/>
                  </a:lnTo>
                  <a:cubicBezTo>
                    <a:pt x="21963889" y="0"/>
                    <a:pt x="22074632" y="110744"/>
                    <a:pt x="22074632" y="247396"/>
                  </a:cubicBezTo>
                  <a:lnTo>
                    <a:pt x="22074632" y="1237107"/>
                  </a:lnTo>
                  <a:cubicBezTo>
                    <a:pt x="22074632" y="1373759"/>
                    <a:pt x="21963889" y="1484503"/>
                    <a:pt x="21827237" y="1484503"/>
                  </a:cubicBezTo>
                  <a:lnTo>
                    <a:pt x="247396" y="1484503"/>
                  </a:lnTo>
                  <a:cubicBezTo>
                    <a:pt x="110744" y="1484503"/>
                    <a:pt x="0" y="1373759"/>
                    <a:pt x="0" y="1237107"/>
                  </a:cubicBezTo>
                  <a:close/>
                </a:path>
              </a:pathLst>
            </a:custGeom>
            <a:solidFill>
              <a:srgbClr val="F6E3D9"/>
            </a:solidFill>
            <a:ln w="15252" cap="sq">
              <a:solidFill>
                <a:srgbClr val="F6E3D9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271978" y="8080438"/>
            <a:ext cx="1779956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9C654E"/>
                </a:solidFill>
                <a:latin typeface="Aptos Bold"/>
                <a:ea typeface="Aptos Bold"/>
                <a:cs typeface="Aptos Bold"/>
                <a:sym typeface="Aptos Bold"/>
              </a:rPr>
              <a:t>KEY MESSAGE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262360" y="7970625"/>
            <a:ext cx="13241769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6362F"/>
                </a:solidFill>
                <a:latin typeface="Aptos Bold"/>
                <a:ea typeface="Aptos Bold"/>
                <a:cs typeface="Aptos Bold"/>
                <a:sym typeface="Aptos Bold"/>
              </a:rPr>
              <a:t>Evaluate the full pipeline honestly: filtering helps against spikes, but simpler baselines remain highly competitive.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4900" y="9123664"/>
            <a:ext cx="15987112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i="true">
                <a:solidFill>
                  <a:srgbClr val="68756E"/>
                </a:solidFill>
                <a:latin typeface="Aptos Italics"/>
                <a:ea typeface="Aptos Italics"/>
                <a:cs typeface="Aptos Italics"/>
                <a:sym typeface="Aptos Italics"/>
              </a:rPr>
              <a:t>Dataset: P18 BIORO weather-station record, 7 Mar 2024 – 13 Oct 2025. Metrics are from submitted report/output files.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87635" y="9919821"/>
            <a:ext cx="11594563" cy="1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68756E"/>
                </a:solidFill>
                <a:latin typeface="Aptos Bold"/>
                <a:ea typeface="Aptos Bold"/>
                <a:cs typeface="Aptos Bold"/>
                <a:sym typeface="Aptos Bold"/>
              </a:rPr>
              <a:t>SIGNAL PROCESSING  •  FINAL PROJECT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714546" y="9869110"/>
            <a:ext cx="5857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426653"/>
                </a:solidFill>
                <a:latin typeface="Aptos Bold"/>
                <a:ea typeface="Aptos Bold"/>
                <a:cs typeface="Aptos Bold"/>
                <a:sym typeface="Aptos Bold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DAHYF1sQzsg</dc:identifier>
  <dcterms:modified xsi:type="dcterms:W3CDTF">2011-08-01T06:04:30Z</dcterms:modified>
  <cp:revision>1</cp:revision>
  <dc:title>SP_Final_Project_Review</dc:title>
</cp:coreProperties>
</file>